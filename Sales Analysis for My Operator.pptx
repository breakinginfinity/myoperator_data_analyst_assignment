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8288000" cy="10287000"/>
  <p:notesSz cx="6858000" cy="9144000"/>
  <p:embeddedFontLst>
    <p:embeddedFont>
      <p:font typeface="Agrandir" panose="020B0604020202020204" charset="0"/>
      <p:regular r:id="rId10"/>
    </p:embeddedFont>
    <p:embeddedFont>
      <p:font typeface="Montserrat" panose="00000500000000000000" pitchFamily="2" charset="0"/>
      <p:regular r:id="rId11"/>
    </p:embeddedFont>
    <p:embeddedFont>
      <p:font typeface="Montserrat Bold" panose="00000800000000000000"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1" d="100"/>
          <a:sy n="51" d="100"/>
        </p:scale>
        <p:origin x="510" y="1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dell\Downloads\sales_analysis_summary.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dell\Downloads\sales_data%20(2).csv"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dell\Downloads\sales_analysis_summary.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1597728562477023E-2"/>
          <c:y val="3.4508563585077499E-2"/>
          <c:w val="0.92840227143752296"/>
          <c:h val="0.87596623662383721"/>
        </c:manualLayout>
      </c:layout>
      <c:barChart>
        <c:barDir val="col"/>
        <c:grouping val="clustered"/>
        <c:varyColors val="0"/>
        <c:ser>
          <c:idx val="0"/>
          <c:order val="0"/>
          <c:tx>
            <c:strRef>
              <c:f>'Sales by Month'!$B$1</c:f>
              <c:strCache>
                <c:ptCount val="1"/>
                <c:pt idx="0">
                  <c:v>Total Sales</c:v>
                </c:pt>
              </c:strCache>
            </c:strRef>
          </c:tx>
          <c:spPr>
            <a:solidFill>
              <a:schemeClr val="accent1"/>
            </a:solidFill>
            <a:ln>
              <a:noFill/>
            </a:ln>
            <a:effectLst/>
          </c:spPr>
          <c:invertIfNegative val="0"/>
          <c:cat>
            <c:strRef>
              <c:f>'Sales by Month'!$A$2:$A$4</c:f>
              <c:strCache>
                <c:ptCount val="3"/>
                <c:pt idx="0">
                  <c:v>January</c:v>
                </c:pt>
                <c:pt idx="1">
                  <c:v>February</c:v>
                </c:pt>
                <c:pt idx="2">
                  <c:v>March</c:v>
                </c:pt>
              </c:strCache>
            </c:strRef>
          </c:cat>
          <c:val>
            <c:numRef>
              <c:f>'Sales by Month'!$B$2:$B$4</c:f>
              <c:numCache>
                <c:formatCode>General</c:formatCode>
                <c:ptCount val="3"/>
                <c:pt idx="0">
                  <c:v>116291.868</c:v>
                </c:pt>
                <c:pt idx="1">
                  <c:v>97219.373999999996</c:v>
                </c:pt>
                <c:pt idx="2">
                  <c:v>109455.507</c:v>
                </c:pt>
              </c:numCache>
            </c:numRef>
          </c:val>
          <c:extLst>
            <c:ext xmlns:c16="http://schemas.microsoft.com/office/drawing/2014/chart" uri="{C3380CC4-5D6E-409C-BE32-E72D297353CC}">
              <c16:uniqueId val="{00000000-005C-4947-A2A7-35D311BD8A27}"/>
            </c:ext>
          </c:extLst>
        </c:ser>
        <c:dLbls>
          <c:showLegendKey val="0"/>
          <c:showVal val="0"/>
          <c:showCatName val="0"/>
          <c:showSerName val="0"/>
          <c:showPercent val="0"/>
          <c:showBubbleSize val="0"/>
        </c:dLbls>
        <c:gapWidth val="219"/>
        <c:overlap val="-27"/>
        <c:axId val="847834080"/>
        <c:axId val="847835520"/>
      </c:barChart>
      <c:catAx>
        <c:axId val="8478340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crossAx val="847835520"/>
        <c:crosses val="autoZero"/>
        <c:auto val="1"/>
        <c:lblAlgn val="ctr"/>
        <c:lblOffset val="100"/>
        <c:noMultiLvlLbl val="0"/>
      </c:catAx>
      <c:valAx>
        <c:axId val="847835520"/>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crossAx val="84783408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[sales_data (2).csv]Sheet1!PivotTable8</c:name>
    <c:fmtId val="3"/>
  </c:pivotSource>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Sheet1!$B$1:$B$2</c:f>
              <c:strCache>
                <c:ptCount val="1"/>
                <c:pt idx="0">
                  <c:v>Female</c:v>
                </c:pt>
              </c:strCache>
            </c:strRef>
          </c:tx>
          <c:spPr>
            <a:solidFill>
              <a:schemeClr val="accent1"/>
            </a:solidFill>
            <a:ln>
              <a:noFill/>
            </a:ln>
            <a:effectLst/>
          </c:spPr>
          <c:invertIfNegative val="0"/>
          <c:cat>
            <c:strRef>
              <c:f>Sheet1!$A$3:$A$5</c:f>
              <c:strCache>
                <c:ptCount val="2"/>
                <c:pt idx="0">
                  <c:v>Member</c:v>
                </c:pt>
                <c:pt idx="1">
                  <c:v>Normal</c:v>
                </c:pt>
              </c:strCache>
            </c:strRef>
          </c:cat>
          <c:val>
            <c:numRef>
              <c:f>Sheet1!$B$3:$B$5</c:f>
              <c:numCache>
                <c:formatCode>General</c:formatCode>
                <c:ptCount val="2"/>
                <c:pt idx="0">
                  <c:v>261</c:v>
                </c:pt>
                <c:pt idx="1">
                  <c:v>240</c:v>
                </c:pt>
              </c:numCache>
            </c:numRef>
          </c:val>
          <c:extLst>
            <c:ext xmlns:c16="http://schemas.microsoft.com/office/drawing/2014/chart" uri="{C3380CC4-5D6E-409C-BE32-E72D297353CC}">
              <c16:uniqueId val="{00000000-FBCC-40B0-99BB-BA307114DDF5}"/>
            </c:ext>
          </c:extLst>
        </c:ser>
        <c:ser>
          <c:idx val="1"/>
          <c:order val="1"/>
          <c:tx>
            <c:strRef>
              <c:f>Sheet1!$C$1:$C$2</c:f>
              <c:strCache>
                <c:ptCount val="1"/>
                <c:pt idx="0">
                  <c:v>Male</c:v>
                </c:pt>
              </c:strCache>
            </c:strRef>
          </c:tx>
          <c:spPr>
            <a:solidFill>
              <a:schemeClr val="accent2"/>
            </a:solidFill>
            <a:ln>
              <a:noFill/>
            </a:ln>
            <a:effectLst/>
          </c:spPr>
          <c:invertIfNegative val="0"/>
          <c:cat>
            <c:strRef>
              <c:f>Sheet1!$A$3:$A$5</c:f>
              <c:strCache>
                <c:ptCount val="2"/>
                <c:pt idx="0">
                  <c:v>Member</c:v>
                </c:pt>
                <c:pt idx="1">
                  <c:v>Normal</c:v>
                </c:pt>
              </c:strCache>
            </c:strRef>
          </c:cat>
          <c:val>
            <c:numRef>
              <c:f>Sheet1!$C$3:$C$5</c:f>
              <c:numCache>
                <c:formatCode>General</c:formatCode>
                <c:ptCount val="2"/>
                <c:pt idx="0">
                  <c:v>240</c:v>
                </c:pt>
                <c:pt idx="1">
                  <c:v>259</c:v>
                </c:pt>
              </c:numCache>
            </c:numRef>
          </c:val>
          <c:extLst>
            <c:ext xmlns:c16="http://schemas.microsoft.com/office/drawing/2014/chart" uri="{C3380CC4-5D6E-409C-BE32-E72D297353CC}">
              <c16:uniqueId val="{00000001-FBCC-40B0-99BB-BA307114DDF5}"/>
            </c:ext>
          </c:extLst>
        </c:ser>
        <c:dLbls>
          <c:showLegendKey val="0"/>
          <c:showVal val="0"/>
          <c:showCatName val="0"/>
          <c:showSerName val="0"/>
          <c:showPercent val="0"/>
          <c:showBubbleSize val="0"/>
        </c:dLbls>
        <c:gapWidth val="219"/>
        <c:overlap val="-27"/>
        <c:axId val="882828480"/>
        <c:axId val="882828960"/>
      </c:barChart>
      <c:catAx>
        <c:axId val="8828284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1" i="0" u="none" strike="noStrike" kern="1200" baseline="0">
                <a:solidFill>
                  <a:schemeClr val="bg1"/>
                </a:solidFill>
                <a:latin typeface="+mn-lt"/>
                <a:ea typeface="+mn-ea"/>
                <a:cs typeface="+mn-cs"/>
              </a:defRPr>
            </a:pPr>
            <a:endParaRPr lang="en-US"/>
          </a:p>
        </c:txPr>
        <c:crossAx val="882828960"/>
        <c:crosses val="autoZero"/>
        <c:auto val="1"/>
        <c:lblAlgn val="ctr"/>
        <c:lblOffset val="100"/>
        <c:noMultiLvlLbl val="0"/>
      </c:catAx>
      <c:valAx>
        <c:axId val="882828960"/>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crossAx val="882828480"/>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barChart>
        <c:barDir val="bar"/>
        <c:grouping val="clustered"/>
        <c:varyColors val="0"/>
        <c:ser>
          <c:idx val="0"/>
          <c:order val="0"/>
          <c:tx>
            <c:strRef>
              <c:f>'Sales by Product Line'!$B$1</c:f>
              <c:strCache>
                <c:ptCount val="1"/>
                <c:pt idx="0">
                  <c:v>Total Sales</c:v>
                </c:pt>
              </c:strCache>
            </c:strRef>
          </c:tx>
          <c:spPr>
            <a:solidFill>
              <a:schemeClr val="accent1"/>
            </a:solidFill>
            <a:ln>
              <a:noFill/>
            </a:ln>
            <a:effectLst/>
          </c:spPr>
          <c:invertIfNegative val="0"/>
          <c:cat>
            <c:strRef>
              <c:f>'Sales by Product Line'!$A$2:$A$7</c:f>
              <c:strCache>
                <c:ptCount val="6"/>
                <c:pt idx="0">
                  <c:v>Food and beverages</c:v>
                </c:pt>
                <c:pt idx="1">
                  <c:v>Sports and travel</c:v>
                </c:pt>
                <c:pt idx="2">
                  <c:v>Electronic accessories</c:v>
                </c:pt>
                <c:pt idx="3">
                  <c:v>Fashion accessories</c:v>
                </c:pt>
                <c:pt idx="4">
                  <c:v>Home and lifestyle</c:v>
                </c:pt>
                <c:pt idx="5">
                  <c:v>Health and beauty</c:v>
                </c:pt>
              </c:strCache>
            </c:strRef>
          </c:cat>
          <c:val>
            <c:numRef>
              <c:f>'Sales by Product Line'!$B$2:$B$7</c:f>
              <c:numCache>
                <c:formatCode>General</c:formatCode>
                <c:ptCount val="6"/>
                <c:pt idx="0">
                  <c:v>56144.843999999997</c:v>
                </c:pt>
                <c:pt idx="1">
                  <c:v>55122.826500000003</c:v>
                </c:pt>
                <c:pt idx="2">
                  <c:v>54337.531499999997</c:v>
                </c:pt>
                <c:pt idx="3">
                  <c:v>54305.894999999997</c:v>
                </c:pt>
                <c:pt idx="4">
                  <c:v>53861.913</c:v>
                </c:pt>
                <c:pt idx="5">
                  <c:v>49193.739000000001</c:v>
                </c:pt>
              </c:numCache>
            </c:numRef>
          </c:val>
          <c:extLst>
            <c:ext xmlns:c16="http://schemas.microsoft.com/office/drawing/2014/chart" uri="{C3380CC4-5D6E-409C-BE32-E72D297353CC}">
              <c16:uniqueId val="{00000000-728B-48C1-B4AD-8CEE5A928958}"/>
            </c:ext>
          </c:extLst>
        </c:ser>
        <c:dLbls>
          <c:showLegendKey val="0"/>
          <c:showVal val="0"/>
          <c:showCatName val="0"/>
          <c:showSerName val="0"/>
          <c:showPercent val="0"/>
          <c:showBubbleSize val="0"/>
        </c:dLbls>
        <c:gapWidth val="182"/>
        <c:axId val="847839840"/>
        <c:axId val="847840320"/>
      </c:barChart>
      <c:catAx>
        <c:axId val="847839840"/>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crossAx val="847840320"/>
        <c:crosses val="autoZero"/>
        <c:auto val="1"/>
        <c:lblAlgn val="ctr"/>
        <c:lblOffset val="100"/>
        <c:noMultiLvlLbl val="0"/>
      </c:catAx>
      <c:valAx>
        <c:axId val="847840320"/>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84783984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withinLinear" id="14">
  <a:schemeClr val="accent1"/>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chart" Target="../charts/chart1.xml"/><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chart" Target="../charts/chart2.xm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7.sv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chart" Target="../charts/chart3.xml"/><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png"/><Relationship Id="rId7" Type="http://schemas.openxmlformats.org/officeDocument/2006/relationships/image" Target="../media/image3.svg"/><Relationship Id="rId2" Type="http://schemas.openxmlformats.org/officeDocument/2006/relationships/hyperlink" Target="https://datahierarchy.framer.website" TargetMode="External"/><Relationship Id="rId1" Type="http://schemas.openxmlformats.org/officeDocument/2006/relationships/slideLayout" Target="../slideLayouts/slideLayout7.xml"/><Relationship Id="rId6" Type="http://schemas.openxmlformats.org/officeDocument/2006/relationships/image" Target="../media/image2.png"/><Relationship Id="rId11" Type="http://schemas.openxmlformats.org/officeDocument/2006/relationships/hyperlink" Target="http://linkedin.com/in/datahierarchy/details/certifications/" TargetMode="External"/><Relationship Id="rId5" Type="http://schemas.openxmlformats.org/officeDocument/2006/relationships/image" Target="../media/image1.png"/><Relationship Id="rId10" Type="http://schemas.openxmlformats.org/officeDocument/2006/relationships/image" Target="../media/image10.png"/><Relationship Id="rId4" Type="http://schemas.openxmlformats.org/officeDocument/2006/relationships/image" Target="../media/image5.svg"/><Relationship Id="rId9" Type="http://schemas.openxmlformats.org/officeDocument/2006/relationships/image" Target="../media/image9.sv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166678">
                <a:alpha val="100000"/>
              </a:srgbClr>
            </a:gs>
            <a:gs pos="100000">
              <a:srgbClr val="212626">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rot="5400000" flipH="1" flipV="1">
            <a:off x="11419863" y="2966498"/>
            <a:ext cx="8926745" cy="8960347"/>
          </a:xfrm>
          <a:custGeom>
            <a:avLst/>
            <a:gdLst/>
            <a:ahLst/>
            <a:cxnLst/>
            <a:rect l="l" t="t" r="r" b="b"/>
            <a:pathLst>
              <a:path w="8926745" h="8960347">
                <a:moveTo>
                  <a:pt x="8926745" y="8960346"/>
                </a:moveTo>
                <a:lnTo>
                  <a:pt x="0" y="8960346"/>
                </a:lnTo>
                <a:lnTo>
                  <a:pt x="0" y="0"/>
                </a:lnTo>
                <a:lnTo>
                  <a:pt x="8926745" y="0"/>
                </a:lnTo>
                <a:lnTo>
                  <a:pt x="8926745" y="8960346"/>
                </a:lnTo>
                <a:close/>
              </a:path>
            </a:pathLst>
          </a:custGeom>
          <a:blipFill>
            <a:blip r:embed="rId2"/>
            <a:stretch>
              <a:fillRect/>
            </a:stretch>
          </a:blipFill>
        </p:spPr>
      </p:sp>
      <p:sp>
        <p:nvSpPr>
          <p:cNvPr id="3" name="Freeform 3"/>
          <p:cNvSpPr/>
          <p:nvPr/>
        </p:nvSpPr>
        <p:spPr>
          <a:xfrm>
            <a:off x="10248056" y="3504862"/>
            <a:ext cx="3877306" cy="3941808"/>
          </a:xfrm>
          <a:custGeom>
            <a:avLst/>
            <a:gdLst/>
            <a:ahLst/>
            <a:cxnLst/>
            <a:rect l="l" t="t" r="r" b="b"/>
            <a:pathLst>
              <a:path w="3877306" h="3941808">
                <a:moveTo>
                  <a:pt x="0" y="0"/>
                </a:moveTo>
                <a:lnTo>
                  <a:pt x="3877306" y="0"/>
                </a:lnTo>
                <a:lnTo>
                  <a:pt x="3877306" y="3941809"/>
                </a:lnTo>
                <a:lnTo>
                  <a:pt x="0" y="394180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rot="5400000" flipH="1" flipV="1">
            <a:off x="-1065129" y="4143707"/>
            <a:ext cx="1754310" cy="1760913"/>
          </a:xfrm>
          <a:custGeom>
            <a:avLst/>
            <a:gdLst/>
            <a:ahLst/>
            <a:cxnLst/>
            <a:rect l="l" t="t" r="r" b="b"/>
            <a:pathLst>
              <a:path w="1754310" h="1760913">
                <a:moveTo>
                  <a:pt x="1754310" y="1760913"/>
                </a:moveTo>
                <a:lnTo>
                  <a:pt x="0" y="1760913"/>
                </a:lnTo>
                <a:lnTo>
                  <a:pt x="0" y="0"/>
                </a:lnTo>
                <a:lnTo>
                  <a:pt x="1754310" y="0"/>
                </a:lnTo>
                <a:lnTo>
                  <a:pt x="1754310" y="1760913"/>
                </a:lnTo>
                <a:close/>
              </a:path>
            </a:pathLst>
          </a:custGeom>
          <a:blipFill>
            <a:blip r:embed="rId2">
              <a:alphaModFix amt="54000"/>
            </a:blip>
            <a:stretch>
              <a:fillRect/>
            </a:stretch>
          </a:blipFill>
        </p:spPr>
      </p:sp>
      <p:sp>
        <p:nvSpPr>
          <p:cNvPr id="5" name="AutoShape 5"/>
          <p:cNvSpPr/>
          <p:nvPr/>
        </p:nvSpPr>
        <p:spPr>
          <a:xfrm>
            <a:off x="1583966" y="7483632"/>
            <a:ext cx="8262937" cy="0"/>
          </a:xfrm>
          <a:prstGeom prst="line">
            <a:avLst/>
          </a:prstGeom>
          <a:ln w="38100" cap="flat">
            <a:solidFill>
              <a:srgbClr val="737373"/>
            </a:solidFill>
            <a:prstDash val="solid"/>
            <a:headEnd type="none" w="sm" len="sm"/>
            <a:tailEnd type="none" w="sm" len="sm"/>
          </a:ln>
        </p:spPr>
      </p:sp>
      <p:grpSp>
        <p:nvGrpSpPr>
          <p:cNvPr id="6" name="Group 6"/>
          <p:cNvGrpSpPr/>
          <p:nvPr/>
        </p:nvGrpSpPr>
        <p:grpSpPr>
          <a:xfrm>
            <a:off x="1583966" y="1333305"/>
            <a:ext cx="5575470" cy="851217"/>
            <a:chOff x="0" y="0"/>
            <a:chExt cx="1468437" cy="224189"/>
          </a:xfrm>
        </p:grpSpPr>
        <p:sp>
          <p:nvSpPr>
            <p:cNvPr id="7" name="Freeform 7"/>
            <p:cNvSpPr/>
            <p:nvPr/>
          </p:nvSpPr>
          <p:spPr>
            <a:xfrm>
              <a:off x="0" y="0"/>
              <a:ext cx="1468437" cy="224189"/>
            </a:xfrm>
            <a:custGeom>
              <a:avLst/>
              <a:gdLst/>
              <a:ahLst/>
              <a:cxnLst/>
              <a:rect l="l" t="t" r="r" b="b"/>
              <a:pathLst>
                <a:path w="1468437" h="224189">
                  <a:moveTo>
                    <a:pt x="70817" y="0"/>
                  </a:moveTo>
                  <a:lnTo>
                    <a:pt x="1397620" y="0"/>
                  </a:lnTo>
                  <a:cubicBezTo>
                    <a:pt x="1416402" y="0"/>
                    <a:pt x="1434414" y="7461"/>
                    <a:pt x="1447695" y="20742"/>
                  </a:cubicBezTo>
                  <a:cubicBezTo>
                    <a:pt x="1460976" y="34023"/>
                    <a:pt x="1468437" y="52035"/>
                    <a:pt x="1468437" y="70817"/>
                  </a:cubicBezTo>
                  <a:lnTo>
                    <a:pt x="1468437" y="153372"/>
                  </a:lnTo>
                  <a:cubicBezTo>
                    <a:pt x="1468437" y="192483"/>
                    <a:pt x="1436731" y="224189"/>
                    <a:pt x="1397620" y="224189"/>
                  </a:cubicBezTo>
                  <a:lnTo>
                    <a:pt x="70817" y="224189"/>
                  </a:lnTo>
                  <a:cubicBezTo>
                    <a:pt x="31706" y="224189"/>
                    <a:pt x="0" y="192483"/>
                    <a:pt x="0" y="153372"/>
                  </a:cubicBezTo>
                  <a:lnTo>
                    <a:pt x="0" y="70817"/>
                  </a:lnTo>
                  <a:cubicBezTo>
                    <a:pt x="0" y="31706"/>
                    <a:pt x="31706" y="0"/>
                    <a:pt x="70817" y="0"/>
                  </a:cubicBezTo>
                  <a:close/>
                </a:path>
              </a:pathLst>
            </a:custGeom>
            <a:solidFill>
              <a:srgbClr val="166678"/>
            </a:solidFill>
            <a:ln w="9525" cap="rnd">
              <a:solidFill>
                <a:srgbClr val="FFFFFF"/>
              </a:solidFill>
              <a:prstDash val="solid"/>
              <a:round/>
            </a:ln>
          </p:spPr>
        </p:sp>
        <p:sp>
          <p:nvSpPr>
            <p:cNvPr id="8" name="TextBox 8"/>
            <p:cNvSpPr txBox="1"/>
            <p:nvPr/>
          </p:nvSpPr>
          <p:spPr>
            <a:xfrm>
              <a:off x="0" y="-38100"/>
              <a:ext cx="1468437" cy="262289"/>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9679013" y="1691804"/>
            <a:ext cx="1138086" cy="271071"/>
          </a:xfrm>
          <a:custGeom>
            <a:avLst/>
            <a:gdLst/>
            <a:ahLst/>
            <a:cxnLst/>
            <a:rect l="l" t="t" r="r" b="b"/>
            <a:pathLst>
              <a:path w="1138086" h="271071">
                <a:moveTo>
                  <a:pt x="0" y="0"/>
                </a:moveTo>
                <a:lnTo>
                  <a:pt x="1138086" y="0"/>
                </a:lnTo>
                <a:lnTo>
                  <a:pt x="1138086" y="271071"/>
                </a:lnTo>
                <a:lnTo>
                  <a:pt x="0" y="27107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0" name="TextBox 10"/>
          <p:cNvSpPr txBox="1"/>
          <p:nvPr/>
        </p:nvSpPr>
        <p:spPr>
          <a:xfrm>
            <a:off x="1583966" y="2999250"/>
            <a:ext cx="8262937" cy="3925859"/>
          </a:xfrm>
          <a:prstGeom prst="rect">
            <a:avLst/>
          </a:prstGeom>
        </p:spPr>
        <p:txBody>
          <a:bodyPr lIns="0" tIns="0" rIns="0" bIns="0" rtlCol="0" anchor="t">
            <a:spAutoFit/>
          </a:bodyPr>
          <a:lstStyle/>
          <a:p>
            <a:pPr algn="l">
              <a:lnSpc>
                <a:spcPts val="13637"/>
              </a:lnSpc>
            </a:pPr>
            <a:r>
              <a:rPr lang="en-US" sz="13637">
                <a:solidFill>
                  <a:srgbClr val="FFFFFF"/>
                </a:solidFill>
                <a:latin typeface="Agrandir"/>
                <a:ea typeface="Agrandir"/>
                <a:cs typeface="Agrandir"/>
                <a:sym typeface="Agrandir"/>
              </a:rPr>
              <a:t>SALES ANALYSIS</a:t>
            </a:r>
          </a:p>
        </p:txBody>
      </p:sp>
      <p:sp>
        <p:nvSpPr>
          <p:cNvPr id="11" name="TextBox 11"/>
          <p:cNvSpPr txBox="1"/>
          <p:nvPr/>
        </p:nvSpPr>
        <p:spPr>
          <a:xfrm>
            <a:off x="13336675" y="1507326"/>
            <a:ext cx="3367358" cy="455549"/>
          </a:xfrm>
          <a:prstGeom prst="rect">
            <a:avLst/>
          </a:prstGeom>
        </p:spPr>
        <p:txBody>
          <a:bodyPr lIns="0" tIns="0" rIns="0" bIns="0" rtlCol="0" anchor="t">
            <a:spAutoFit/>
          </a:bodyPr>
          <a:lstStyle/>
          <a:p>
            <a:pPr algn="r">
              <a:lnSpc>
                <a:spcPts val="3765"/>
              </a:lnSpc>
            </a:pPr>
            <a:r>
              <a:rPr lang="en-US" sz="2689">
                <a:solidFill>
                  <a:srgbClr val="BFBFBF"/>
                </a:solidFill>
                <a:latin typeface="Montserrat"/>
                <a:ea typeface="Montserrat"/>
                <a:cs typeface="Montserrat"/>
                <a:sym typeface="Montserrat"/>
              </a:rPr>
              <a:t>APRIL  - 11  2025</a:t>
            </a:r>
          </a:p>
        </p:txBody>
      </p:sp>
      <p:sp>
        <p:nvSpPr>
          <p:cNvPr id="12" name="TextBox 12"/>
          <p:cNvSpPr txBox="1"/>
          <p:nvPr/>
        </p:nvSpPr>
        <p:spPr>
          <a:xfrm>
            <a:off x="2134703" y="1515965"/>
            <a:ext cx="4473998" cy="389426"/>
          </a:xfrm>
          <a:prstGeom prst="rect">
            <a:avLst/>
          </a:prstGeom>
        </p:spPr>
        <p:txBody>
          <a:bodyPr lIns="0" tIns="0" rIns="0" bIns="0" rtlCol="0" anchor="t">
            <a:spAutoFit/>
          </a:bodyPr>
          <a:lstStyle/>
          <a:p>
            <a:pPr algn="l">
              <a:lnSpc>
                <a:spcPts val="3210"/>
              </a:lnSpc>
            </a:pPr>
            <a:r>
              <a:rPr lang="en-US" sz="2293">
                <a:solidFill>
                  <a:srgbClr val="FFFFFF"/>
                </a:solidFill>
                <a:latin typeface="Montserrat"/>
                <a:ea typeface="Montserrat"/>
                <a:cs typeface="Montserrat"/>
                <a:sym typeface="Montserrat"/>
              </a:rPr>
              <a:t>Presented By: AMAN VERMA</a:t>
            </a:r>
          </a:p>
        </p:txBody>
      </p:sp>
      <p:sp>
        <p:nvSpPr>
          <p:cNvPr id="13" name="TextBox 13"/>
          <p:cNvSpPr txBox="1"/>
          <p:nvPr/>
        </p:nvSpPr>
        <p:spPr>
          <a:xfrm>
            <a:off x="1583966" y="8151695"/>
            <a:ext cx="8262937" cy="858798"/>
          </a:xfrm>
          <a:prstGeom prst="rect">
            <a:avLst/>
          </a:prstGeom>
        </p:spPr>
        <p:txBody>
          <a:bodyPr lIns="0" tIns="0" rIns="0" bIns="0" rtlCol="0" anchor="t">
            <a:spAutoFit/>
          </a:bodyPr>
          <a:lstStyle/>
          <a:p>
            <a:pPr algn="l">
              <a:lnSpc>
                <a:spcPts val="3445"/>
              </a:lnSpc>
            </a:pPr>
            <a:r>
              <a:rPr lang="en-US" sz="2756">
                <a:solidFill>
                  <a:srgbClr val="BFBFBF"/>
                </a:solidFill>
                <a:latin typeface="Montserrat"/>
                <a:ea typeface="Montserrat"/>
                <a:cs typeface="Montserrat"/>
                <a:sym typeface="Montserrat"/>
              </a:rPr>
              <a:t>Sample Sales Analysis For My Operator</a:t>
            </a:r>
          </a:p>
          <a:p>
            <a:pPr algn="l">
              <a:lnSpc>
                <a:spcPts val="3445"/>
              </a:lnSpc>
            </a:pPr>
            <a:r>
              <a:rPr lang="en-US" sz="2756">
                <a:solidFill>
                  <a:srgbClr val="BFBFBF"/>
                </a:solidFill>
                <a:latin typeface="Montserrat"/>
                <a:ea typeface="Montserrat"/>
                <a:cs typeface="Montserrat"/>
                <a:sym typeface="Montserrat"/>
              </a:rPr>
              <a:t>Key Insights From The Data Set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166678">
                <a:alpha val="100000"/>
              </a:srgbClr>
            </a:gs>
            <a:gs pos="100000">
              <a:srgbClr val="212626">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rot="5400000">
            <a:off x="-1344936" y="-3526425"/>
            <a:ext cx="6535886" cy="6560488"/>
          </a:xfrm>
          <a:custGeom>
            <a:avLst/>
            <a:gdLst/>
            <a:ahLst/>
            <a:cxnLst/>
            <a:rect l="l" t="t" r="r" b="b"/>
            <a:pathLst>
              <a:path w="6535886" h="6560488">
                <a:moveTo>
                  <a:pt x="0" y="0"/>
                </a:moveTo>
                <a:lnTo>
                  <a:pt x="6535886" y="0"/>
                </a:lnTo>
                <a:lnTo>
                  <a:pt x="6535886" y="6560488"/>
                </a:lnTo>
                <a:lnTo>
                  <a:pt x="0" y="6560488"/>
                </a:lnTo>
                <a:lnTo>
                  <a:pt x="0" y="0"/>
                </a:lnTo>
                <a:close/>
              </a:path>
            </a:pathLst>
          </a:custGeom>
          <a:blipFill>
            <a:blip r:embed="rId2"/>
            <a:stretch>
              <a:fillRect/>
            </a:stretch>
          </a:blipFill>
        </p:spPr>
      </p:sp>
      <p:sp>
        <p:nvSpPr>
          <p:cNvPr id="3" name="TextBox 3"/>
          <p:cNvSpPr txBox="1"/>
          <p:nvPr/>
        </p:nvSpPr>
        <p:spPr>
          <a:xfrm>
            <a:off x="1601487" y="3619830"/>
            <a:ext cx="6371403" cy="2383483"/>
          </a:xfrm>
          <a:prstGeom prst="rect">
            <a:avLst/>
          </a:prstGeom>
        </p:spPr>
        <p:txBody>
          <a:bodyPr lIns="0" tIns="0" rIns="0" bIns="0" rtlCol="0" anchor="t">
            <a:spAutoFit/>
          </a:bodyPr>
          <a:lstStyle/>
          <a:p>
            <a:pPr algn="l">
              <a:lnSpc>
                <a:spcPts val="8275"/>
              </a:lnSpc>
            </a:pPr>
            <a:r>
              <a:rPr lang="en-US" sz="8275">
                <a:solidFill>
                  <a:srgbClr val="FFFFFF"/>
                </a:solidFill>
                <a:latin typeface="Agrandir"/>
                <a:ea typeface="Agrandir"/>
                <a:cs typeface="Agrandir"/>
                <a:sym typeface="Agrandir"/>
              </a:rPr>
              <a:t>DISCUSSION POINTS</a:t>
            </a:r>
          </a:p>
        </p:txBody>
      </p:sp>
      <p:sp>
        <p:nvSpPr>
          <p:cNvPr id="4" name="TextBox 4"/>
          <p:cNvSpPr txBox="1"/>
          <p:nvPr/>
        </p:nvSpPr>
        <p:spPr>
          <a:xfrm>
            <a:off x="1601487" y="6459975"/>
            <a:ext cx="6371403" cy="2179705"/>
          </a:xfrm>
          <a:prstGeom prst="rect">
            <a:avLst/>
          </a:prstGeom>
        </p:spPr>
        <p:txBody>
          <a:bodyPr lIns="0" tIns="0" rIns="0" bIns="0" rtlCol="0" anchor="t">
            <a:spAutoFit/>
          </a:bodyPr>
          <a:lstStyle/>
          <a:p>
            <a:pPr algn="just">
              <a:lnSpc>
                <a:spcPts val="2854"/>
              </a:lnSpc>
            </a:pPr>
            <a:r>
              <a:rPr lang="en-US" sz="2618">
                <a:solidFill>
                  <a:srgbClr val="BFBFBF"/>
                </a:solidFill>
                <a:latin typeface="Montserrat"/>
                <a:ea typeface="Montserrat"/>
                <a:cs typeface="Montserrat"/>
                <a:sym typeface="Montserrat"/>
              </a:rPr>
              <a:t>In this meeting, we will review the company's performance in various aspects, from finance to customers. The goal is to analyze the extent to which the company has achieved its desired targets.</a:t>
            </a:r>
          </a:p>
        </p:txBody>
      </p:sp>
      <p:grpSp>
        <p:nvGrpSpPr>
          <p:cNvPr id="5" name="Group 5"/>
          <p:cNvGrpSpPr/>
          <p:nvPr/>
        </p:nvGrpSpPr>
        <p:grpSpPr>
          <a:xfrm>
            <a:off x="8932575" y="1275718"/>
            <a:ext cx="3778216" cy="1746044"/>
            <a:chOff x="0" y="0"/>
            <a:chExt cx="1059102" cy="489447"/>
          </a:xfrm>
        </p:grpSpPr>
        <p:sp>
          <p:nvSpPr>
            <p:cNvPr id="6" name="Freeform 6"/>
            <p:cNvSpPr/>
            <p:nvPr/>
          </p:nvSpPr>
          <p:spPr>
            <a:xfrm>
              <a:off x="0" y="0"/>
              <a:ext cx="1059102" cy="489447"/>
            </a:xfrm>
            <a:custGeom>
              <a:avLst/>
              <a:gdLst/>
              <a:ahLst/>
              <a:cxnLst/>
              <a:rect l="l" t="t" r="r" b="b"/>
              <a:pathLst>
                <a:path w="1059102" h="489447">
                  <a:moveTo>
                    <a:pt x="104504" y="0"/>
                  </a:moveTo>
                  <a:lnTo>
                    <a:pt x="954598" y="0"/>
                  </a:lnTo>
                  <a:cubicBezTo>
                    <a:pt x="982314" y="0"/>
                    <a:pt x="1008895" y="11010"/>
                    <a:pt x="1028493" y="30608"/>
                  </a:cubicBezTo>
                  <a:cubicBezTo>
                    <a:pt x="1048092" y="50207"/>
                    <a:pt x="1059102" y="76788"/>
                    <a:pt x="1059102" y="104504"/>
                  </a:cubicBezTo>
                  <a:lnTo>
                    <a:pt x="1059102" y="384944"/>
                  </a:lnTo>
                  <a:cubicBezTo>
                    <a:pt x="1059102" y="412660"/>
                    <a:pt x="1048092" y="439241"/>
                    <a:pt x="1028493" y="458839"/>
                  </a:cubicBezTo>
                  <a:cubicBezTo>
                    <a:pt x="1008895" y="478437"/>
                    <a:pt x="982314" y="489447"/>
                    <a:pt x="954598" y="489447"/>
                  </a:cubicBezTo>
                  <a:lnTo>
                    <a:pt x="104504" y="489447"/>
                  </a:lnTo>
                  <a:cubicBezTo>
                    <a:pt x="46788" y="489447"/>
                    <a:pt x="0" y="442659"/>
                    <a:pt x="0" y="384944"/>
                  </a:cubicBezTo>
                  <a:lnTo>
                    <a:pt x="0" y="104504"/>
                  </a:lnTo>
                  <a:cubicBezTo>
                    <a:pt x="0" y="76788"/>
                    <a:pt x="11010" y="50207"/>
                    <a:pt x="30608" y="30608"/>
                  </a:cubicBezTo>
                  <a:cubicBezTo>
                    <a:pt x="50207" y="11010"/>
                    <a:pt x="76788" y="0"/>
                    <a:pt x="104504" y="0"/>
                  </a:cubicBezTo>
                  <a:close/>
                </a:path>
              </a:pathLst>
            </a:custGeom>
            <a:solidFill>
              <a:srgbClr val="166678"/>
            </a:solidFill>
            <a:ln w="9525" cap="rnd">
              <a:solidFill>
                <a:srgbClr val="FFFFFF"/>
              </a:solidFill>
              <a:prstDash val="solid"/>
              <a:round/>
            </a:ln>
          </p:spPr>
        </p:sp>
        <p:sp>
          <p:nvSpPr>
            <p:cNvPr id="7" name="TextBox 7"/>
            <p:cNvSpPr txBox="1"/>
            <p:nvPr/>
          </p:nvSpPr>
          <p:spPr>
            <a:xfrm>
              <a:off x="0" y="-38100"/>
              <a:ext cx="1059102" cy="527547"/>
            </a:xfrm>
            <a:prstGeom prst="rect">
              <a:avLst/>
            </a:prstGeom>
          </p:spPr>
          <p:txBody>
            <a:bodyPr lIns="49065" tIns="49065" rIns="49065" bIns="49065" rtlCol="0" anchor="ctr"/>
            <a:lstStyle/>
            <a:p>
              <a:pPr algn="ctr">
                <a:lnSpc>
                  <a:spcPts val="2659"/>
                </a:lnSpc>
                <a:spcBef>
                  <a:spcPct val="0"/>
                </a:spcBef>
              </a:pPr>
              <a:endParaRPr/>
            </a:p>
          </p:txBody>
        </p:sp>
      </p:grpSp>
      <p:grpSp>
        <p:nvGrpSpPr>
          <p:cNvPr id="8" name="Group 8"/>
          <p:cNvGrpSpPr/>
          <p:nvPr/>
        </p:nvGrpSpPr>
        <p:grpSpPr>
          <a:xfrm>
            <a:off x="12994022" y="1275718"/>
            <a:ext cx="3778216" cy="1746044"/>
            <a:chOff x="0" y="0"/>
            <a:chExt cx="1059102" cy="489447"/>
          </a:xfrm>
        </p:grpSpPr>
        <p:sp>
          <p:nvSpPr>
            <p:cNvPr id="9" name="Freeform 9"/>
            <p:cNvSpPr/>
            <p:nvPr/>
          </p:nvSpPr>
          <p:spPr>
            <a:xfrm>
              <a:off x="0" y="0"/>
              <a:ext cx="1059102" cy="489447"/>
            </a:xfrm>
            <a:custGeom>
              <a:avLst/>
              <a:gdLst/>
              <a:ahLst/>
              <a:cxnLst/>
              <a:rect l="l" t="t" r="r" b="b"/>
              <a:pathLst>
                <a:path w="1059102" h="489447">
                  <a:moveTo>
                    <a:pt x="104504" y="0"/>
                  </a:moveTo>
                  <a:lnTo>
                    <a:pt x="954598" y="0"/>
                  </a:lnTo>
                  <a:cubicBezTo>
                    <a:pt x="982314" y="0"/>
                    <a:pt x="1008895" y="11010"/>
                    <a:pt x="1028493" y="30608"/>
                  </a:cubicBezTo>
                  <a:cubicBezTo>
                    <a:pt x="1048092" y="50207"/>
                    <a:pt x="1059102" y="76788"/>
                    <a:pt x="1059102" y="104504"/>
                  </a:cubicBezTo>
                  <a:lnTo>
                    <a:pt x="1059102" y="384944"/>
                  </a:lnTo>
                  <a:cubicBezTo>
                    <a:pt x="1059102" y="412660"/>
                    <a:pt x="1048092" y="439241"/>
                    <a:pt x="1028493" y="458839"/>
                  </a:cubicBezTo>
                  <a:cubicBezTo>
                    <a:pt x="1008895" y="478437"/>
                    <a:pt x="982314" y="489447"/>
                    <a:pt x="954598" y="489447"/>
                  </a:cubicBezTo>
                  <a:lnTo>
                    <a:pt x="104504" y="489447"/>
                  </a:lnTo>
                  <a:cubicBezTo>
                    <a:pt x="46788" y="489447"/>
                    <a:pt x="0" y="442659"/>
                    <a:pt x="0" y="384944"/>
                  </a:cubicBezTo>
                  <a:lnTo>
                    <a:pt x="0" y="104504"/>
                  </a:lnTo>
                  <a:cubicBezTo>
                    <a:pt x="0" y="76788"/>
                    <a:pt x="11010" y="50207"/>
                    <a:pt x="30608" y="30608"/>
                  </a:cubicBezTo>
                  <a:cubicBezTo>
                    <a:pt x="50207" y="11010"/>
                    <a:pt x="76788" y="0"/>
                    <a:pt x="104504" y="0"/>
                  </a:cubicBezTo>
                  <a:close/>
                </a:path>
              </a:pathLst>
            </a:custGeom>
            <a:solidFill>
              <a:srgbClr val="166678"/>
            </a:solidFill>
            <a:ln w="9525" cap="rnd">
              <a:solidFill>
                <a:srgbClr val="FFFFFF"/>
              </a:solidFill>
              <a:prstDash val="solid"/>
              <a:round/>
            </a:ln>
          </p:spPr>
        </p:sp>
        <p:sp>
          <p:nvSpPr>
            <p:cNvPr id="10" name="TextBox 10"/>
            <p:cNvSpPr txBox="1"/>
            <p:nvPr/>
          </p:nvSpPr>
          <p:spPr>
            <a:xfrm>
              <a:off x="0" y="-38100"/>
              <a:ext cx="1059102" cy="527547"/>
            </a:xfrm>
            <a:prstGeom prst="rect">
              <a:avLst/>
            </a:prstGeom>
          </p:spPr>
          <p:txBody>
            <a:bodyPr lIns="49065" tIns="49065" rIns="49065" bIns="49065" rtlCol="0" anchor="ctr"/>
            <a:lstStyle/>
            <a:p>
              <a:pPr algn="ctr">
                <a:lnSpc>
                  <a:spcPts val="2659"/>
                </a:lnSpc>
                <a:spcBef>
                  <a:spcPct val="0"/>
                </a:spcBef>
              </a:pPr>
              <a:endParaRPr/>
            </a:p>
          </p:txBody>
        </p:sp>
      </p:grpSp>
      <p:grpSp>
        <p:nvGrpSpPr>
          <p:cNvPr id="11" name="Group 11"/>
          <p:cNvGrpSpPr/>
          <p:nvPr/>
        </p:nvGrpSpPr>
        <p:grpSpPr>
          <a:xfrm>
            <a:off x="8932575" y="3237664"/>
            <a:ext cx="3778216" cy="1746044"/>
            <a:chOff x="0" y="0"/>
            <a:chExt cx="1059102" cy="489447"/>
          </a:xfrm>
        </p:grpSpPr>
        <p:sp>
          <p:nvSpPr>
            <p:cNvPr id="12" name="Freeform 12"/>
            <p:cNvSpPr/>
            <p:nvPr/>
          </p:nvSpPr>
          <p:spPr>
            <a:xfrm>
              <a:off x="0" y="0"/>
              <a:ext cx="1059102" cy="489447"/>
            </a:xfrm>
            <a:custGeom>
              <a:avLst/>
              <a:gdLst/>
              <a:ahLst/>
              <a:cxnLst/>
              <a:rect l="l" t="t" r="r" b="b"/>
              <a:pathLst>
                <a:path w="1059102" h="489447">
                  <a:moveTo>
                    <a:pt x="104504" y="0"/>
                  </a:moveTo>
                  <a:lnTo>
                    <a:pt x="954598" y="0"/>
                  </a:lnTo>
                  <a:cubicBezTo>
                    <a:pt x="982314" y="0"/>
                    <a:pt x="1008895" y="11010"/>
                    <a:pt x="1028493" y="30608"/>
                  </a:cubicBezTo>
                  <a:cubicBezTo>
                    <a:pt x="1048092" y="50207"/>
                    <a:pt x="1059102" y="76788"/>
                    <a:pt x="1059102" y="104504"/>
                  </a:cubicBezTo>
                  <a:lnTo>
                    <a:pt x="1059102" y="384944"/>
                  </a:lnTo>
                  <a:cubicBezTo>
                    <a:pt x="1059102" y="412660"/>
                    <a:pt x="1048092" y="439241"/>
                    <a:pt x="1028493" y="458839"/>
                  </a:cubicBezTo>
                  <a:cubicBezTo>
                    <a:pt x="1008895" y="478437"/>
                    <a:pt x="982314" y="489447"/>
                    <a:pt x="954598" y="489447"/>
                  </a:cubicBezTo>
                  <a:lnTo>
                    <a:pt x="104504" y="489447"/>
                  </a:lnTo>
                  <a:cubicBezTo>
                    <a:pt x="46788" y="489447"/>
                    <a:pt x="0" y="442659"/>
                    <a:pt x="0" y="384944"/>
                  </a:cubicBezTo>
                  <a:lnTo>
                    <a:pt x="0" y="104504"/>
                  </a:lnTo>
                  <a:cubicBezTo>
                    <a:pt x="0" y="76788"/>
                    <a:pt x="11010" y="50207"/>
                    <a:pt x="30608" y="30608"/>
                  </a:cubicBezTo>
                  <a:cubicBezTo>
                    <a:pt x="50207" y="11010"/>
                    <a:pt x="76788" y="0"/>
                    <a:pt x="104504" y="0"/>
                  </a:cubicBezTo>
                  <a:close/>
                </a:path>
              </a:pathLst>
            </a:custGeom>
            <a:solidFill>
              <a:srgbClr val="166678"/>
            </a:solidFill>
            <a:ln w="9525" cap="rnd">
              <a:solidFill>
                <a:srgbClr val="FFFFFF"/>
              </a:solidFill>
              <a:prstDash val="solid"/>
              <a:round/>
            </a:ln>
          </p:spPr>
        </p:sp>
        <p:sp>
          <p:nvSpPr>
            <p:cNvPr id="13" name="TextBox 13"/>
            <p:cNvSpPr txBox="1"/>
            <p:nvPr/>
          </p:nvSpPr>
          <p:spPr>
            <a:xfrm>
              <a:off x="0" y="-38100"/>
              <a:ext cx="1059102" cy="527547"/>
            </a:xfrm>
            <a:prstGeom prst="rect">
              <a:avLst/>
            </a:prstGeom>
          </p:spPr>
          <p:txBody>
            <a:bodyPr lIns="49065" tIns="49065" rIns="49065" bIns="49065" rtlCol="0" anchor="ctr"/>
            <a:lstStyle/>
            <a:p>
              <a:pPr algn="ctr">
                <a:lnSpc>
                  <a:spcPts val="2659"/>
                </a:lnSpc>
                <a:spcBef>
                  <a:spcPct val="0"/>
                </a:spcBef>
              </a:pPr>
              <a:endParaRPr/>
            </a:p>
          </p:txBody>
        </p:sp>
      </p:grpSp>
      <p:grpSp>
        <p:nvGrpSpPr>
          <p:cNvPr id="14" name="Group 14"/>
          <p:cNvGrpSpPr/>
          <p:nvPr/>
        </p:nvGrpSpPr>
        <p:grpSpPr>
          <a:xfrm>
            <a:off x="12994022" y="3237664"/>
            <a:ext cx="3778216" cy="1746044"/>
            <a:chOff x="0" y="0"/>
            <a:chExt cx="1059102" cy="489447"/>
          </a:xfrm>
        </p:grpSpPr>
        <p:sp>
          <p:nvSpPr>
            <p:cNvPr id="15" name="Freeform 15"/>
            <p:cNvSpPr/>
            <p:nvPr/>
          </p:nvSpPr>
          <p:spPr>
            <a:xfrm>
              <a:off x="0" y="0"/>
              <a:ext cx="1059102" cy="489447"/>
            </a:xfrm>
            <a:custGeom>
              <a:avLst/>
              <a:gdLst/>
              <a:ahLst/>
              <a:cxnLst/>
              <a:rect l="l" t="t" r="r" b="b"/>
              <a:pathLst>
                <a:path w="1059102" h="489447">
                  <a:moveTo>
                    <a:pt x="104504" y="0"/>
                  </a:moveTo>
                  <a:lnTo>
                    <a:pt x="954598" y="0"/>
                  </a:lnTo>
                  <a:cubicBezTo>
                    <a:pt x="982314" y="0"/>
                    <a:pt x="1008895" y="11010"/>
                    <a:pt x="1028493" y="30608"/>
                  </a:cubicBezTo>
                  <a:cubicBezTo>
                    <a:pt x="1048092" y="50207"/>
                    <a:pt x="1059102" y="76788"/>
                    <a:pt x="1059102" y="104504"/>
                  </a:cubicBezTo>
                  <a:lnTo>
                    <a:pt x="1059102" y="384944"/>
                  </a:lnTo>
                  <a:cubicBezTo>
                    <a:pt x="1059102" y="412660"/>
                    <a:pt x="1048092" y="439241"/>
                    <a:pt x="1028493" y="458839"/>
                  </a:cubicBezTo>
                  <a:cubicBezTo>
                    <a:pt x="1008895" y="478437"/>
                    <a:pt x="982314" y="489447"/>
                    <a:pt x="954598" y="489447"/>
                  </a:cubicBezTo>
                  <a:lnTo>
                    <a:pt x="104504" y="489447"/>
                  </a:lnTo>
                  <a:cubicBezTo>
                    <a:pt x="46788" y="489447"/>
                    <a:pt x="0" y="442659"/>
                    <a:pt x="0" y="384944"/>
                  </a:cubicBezTo>
                  <a:lnTo>
                    <a:pt x="0" y="104504"/>
                  </a:lnTo>
                  <a:cubicBezTo>
                    <a:pt x="0" y="76788"/>
                    <a:pt x="11010" y="50207"/>
                    <a:pt x="30608" y="30608"/>
                  </a:cubicBezTo>
                  <a:cubicBezTo>
                    <a:pt x="50207" y="11010"/>
                    <a:pt x="76788" y="0"/>
                    <a:pt x="104504" y="0"/>
                  </a:cubicBezTo>
                  <a:close/>
                </a:path>
              </a:pathLst>
            </a:custGeom>
            <a:solidFill>
              <a:srgbClr val="166678"/>
            </a:solidFill>
            <a:ln w="9525" cap="rnd">
              <a:solidFill>
                <a:srgbClr val="FFFFFF"/>
              </a:solidFill>
              <a:prstDash val="solid"/>
              <a:round/>
            </a:ln>
          </p:spPr>
        </p:sp>
        <p:sp>
          <p:nvSpPr>
            <p:cNvPr id="16" name="TextBox 16"/>
            <p:cNvSpPr txBox="1"/>
            <p:nvPr/>
          </p:nvSpPr>
          <p:spPr>
            <a:xfrm>
              <a:off x="0" y="-38100"/>
              <a:ext cx="1059102" cy="527547"/>
            </a:xfrm>
            <a:prstGeom prst="rect">
              <a:avLst/>
            </a:prstGeom>
          </p:spPr>
          <p:txBody>
            <a:bodyPr lIns="49065" tIns="49065" rIns="49065" bIns="49065" rtlCol="0" anchor="ctr"/>
            <a:lstStyle/>
            <a:p>
              <a:pPr algn="ctr">
                <a:lnSpc>
                  <a:spcPts val="2659"/>
                </a:lnSpc>
                <a:spcBef>
                  <a:spcPct val="0"/>
                </a:spcBef>
              </a:pPr>
              <a:endParaRPr/>
            </a:p>
          </p:txBody>
        </p:sp>
      </p:grpSp>
      <p:grpSp>
        <p:nvGrpSpPr>
          <p:cNvPr id="17" name="Group 17"/>
          <p:cNvGrpSpPr/>
          <p:nvPr/>
        </p:nvGrpSpPr>
        <p:grpSpPr>
          <a:xfrm>
            <a:off x="8932575" y="5263751"/>
            <a:ext cx="3778216" cy="1746044"/>
            <a:chOff x="0" y="0"/>
            <a:chExt cx="1059102" cy="489447"/>
          </a:xfrm>
        </p:grpSpPr>
        <p:sp>
          <p:nvSpPr>
            <p:cNvPr id="18" name="Freeform 18"/>
            <p:cNvSpPr/>
            <p:nvPr/>
          </p:nvSpPr>
          <p:spPr>
            <a:xfrm>
              <a:off x="0" y="0"/>
              <a:ext cx="1059102" cy="489447"/>
            </a:xfrm>
            <a:custGeom>
              <a:avLst/>
              <a:gdLst/>
              <a:ahLst/>
              <a:cxnLst/>
              <a:rect l="l" t="t" r="r" b="b"/>
              <a:pathLst>
                <a:path w="1059102" h="489447">
                  <a:moveTo>
                    <a:pt x="104504" y="0"/>
                  </a:moveTo>
                  <a:lnTo>
                    <a:pt x="954598" y="0"/>
                  </a:lnTo>
                  <a:cubicBezTo>
                    <a:pt x="982314" y="0"/>
                    <a:pt x="1008895" y="11010"/>
                    <a:pt x="1028493" y="30608"/>
                  </a:cubicBezTo>
                  <a:cubicBezTo>
                    <a:pt x="1048092" y="50207"/>
                    <a:pt x="1059102" y="76788"/>
                    <a:pt x="1059102" y="104504"/>
                  </a:cubicBezTo>
                  <a:lnTo>
                    <a:pt x="1059102" y="384944"/>
                  </a:lnTo>
                  <a:cubicBezTo>
                    <a:pt x="1059102" y="412660"/>
                    <a:pt x="1048092" y="439241"/>
                    <a:pt x="1028493" y="458839"/>
                  </a:cubicBezTo>
                  <a:cubicBezTo>
                    <a:pt x="1008895" y="478437"/>
                    <a:pt x="982314" y="489447"/>
                    <a:pt x="954598" y="489447"/>
                  </a:cubicBezTo>
                  <a:lnTo>
                    <a:pt x="104504" y="489447"/>
                  </a:lnTo>
                  <a:cubicBezTo>
                    <a:pt x="46788" y="489447"/>
                    <a:pt x="0" y="442659"/>
                    <a:pt x="0" y="384944"/>
                  </a:cubicBezTo>
                  <a:lnTo>
                    <a:pt x="0" y="104504"/>
                  </a:lnTo>
                  <a:cubicBezTo>
                    <a:pt x="0" y="76788"/>
                    <a:pt x="11010" y="50207"/>
                    <a:pt x="30608" y="30608"/>
                  </a:cubicBezTo>
                  <a:cubicBezTo>
                    <a:pt x="50207" y="11010"/>
                    <a:pt x="76788" y="0"/>
                    <a:pt x="104504" y="0"/>
                  </a:cubicBezTo>
                  <a:close/>
                </a:path>
              </a:pathLst>
            </a:custGeom>
            <a:solidFill>
              <a:srgbClr val="166678"/>
            </a:solidFill>
            <a:ln w="9525" cap="rnd">
              <a:solidFill>
                <a:srgbClr val="FFFFFF"/>
              </a:solidFill>
              <a:prstDash val="solid"/>
              <a:round/>
            </a:ln>
          </p:spPr>
        </p:sp>
        <p:sp>
          <p:nvSpPr>
            <p:cNvPr id="19" name="TextBox 19"/>
            <p:cNvSpPr txBox="1"/>
            <p:nvPr/>
          </p:nvSpPr>
          <p:spPr>
            <a:xfrm>
              <a:off x="0" y="-38100"/>
              <a:ext cx="1059102" cy="527547"/>
            </a:xfrm>
            <a:prstGeom prst="rect">
              <a:avLst/>
            </a:prstGeom>
          </p:spPr>
          <p:txBody>
            <a:bodyPr lIns="49065" tIns="49065" rIns="49065" bIns="49065" rtlCol="0" anchor="ctr"/>
            <a:lstStyle/>
            <a:p>
              <a:pPr algn="ctr">
                <a:lnSpc>
                  <a:spcPts val="2659"/>
                </a:lnSpc>
                <a:spcBef>
                  <a:spcPct val="0"/>
                </a:spcBef>
              </a:pPr>
              <a:endParaRPr/>
            </a:p>
          </p:txBody>
        </p:sp>
      </p:grpSp>
      <p:sp>
        <p:nvSpPr>
          <p:cNvPr id="20" name="Freeform 20"/>
          <p:cNvSpPr/>
          <p:nvPr/>
        </p:nvSpPr>
        <p:spPr>
          <a:xfrm>
            <a:off x="5743195" y="1254508"/>
            <a:ext cx="1936178" cy="1968388"/>
          </a:xfrm>
          <a:custGeom>
            <a:avLst/>
            <a:gdLst/>
            <a:ahLst/>
            <a:cxnLst/>
            <a:rect l="l" t="t" r="r" b="b"/>
            <a:pathLst>
              <a:path w="1936178" h="1968388">
                <a:moveTo>
                  <a:pt x="0" y="0"/>
                </a:moveTo>
                <a:lnTo>
                  <a:pt x="1936178" y="0"/>
                </a:lnTo>
                <a:lnTo>
                  <a:pt x="1936178" y="1968388"/>
                </a:lnTo>
                <a:lnTo>
                  <a:pt x="0" y="196838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1" name="TextBox 21"/>
          <p:cNvSpPr txBox="1"/>
          <p:nvPr/>
        </p:nvSpPr>
        <p:spPr>
          <a:xfrm>
            <a:off x="10085422" y="1923908"/>
            <a:ext cx="2210264" cy="638794"/>
          </a:xfrm>
          <a:prstGeom prst="rect">
            <a:avLst/>
          </a:prstGeom>
        </p:spPr>
        <p:txBody>
          <a:bodyPr lIns="0" tIns="0" rIns="0" bIns="0" rtlCol="0" anchor="t">
            <a:spAutoFit/>
          </a:bodyPr>
          <a:lstStyle/>
          <a:p>
            <a:pPr algn="l">
              <a:lnSpc>
                <a:spcPts val="2514"/>
              </a:lnSpc>
            </a:pPr>
            <a:r>
              <a:rPr lang="en-US" sz="2514">
                <a:solidFill>
                  <a:srgbClr val="C3C3C3"/>
                </a:solidFill>
                <a:latin typeface="Montserrat"/>
                <a:ea typeface="Montserrat"/>
                <a:cs typeface="Montserrat"/>
                <a:sym typeface="Montserrat"/>
              </a:rPr>
              <a:t>Financial Performance</a:t>
            </a:r>
          </a:p>
        </p:txBody>
      </p:sp>
      <p:sp>
        <p:nvSpPr>
          <p:cNvPr id="22" name="TextBox 22"/>
          <p:cNvSpPr txBox="1"/>
          <p:nvPr/>
        </p:nvSpPr>
        <p:spPr>
          <a:xfrm>
            <a:off x="9338156" y="2060817"/>
            <a:ext cx="507011" cy="364976"/>
          </a:xfrm>
          <a:prstGeom prst="rect">
            <a:avLst/>
          </a:prstGeom>
        </p:spPr>
        <p:txBody>
          <a:bodyPr lIns="0" tIns="0" rIns="0" bIns="0" rtlCol="0" anchor="t">
            <a:spAutoFit/>
          </a:bodyPr>
          <a:lstStyle/>
          <a:p>
            <a:pPr algn="l">
              <a:lnSpc>
                <a:spcPts val="2749"/>
              </a:lnSpc>
            </a:pPr>
            <a:r>
              <a:rPr lang="en-US" sz="2749" b="1">
                <a:solidFill>
                  <a:srgbClr val="C3C3C3"/>
                </a:solidFill>
                <a:latin typeface="Montserrat Bold"/>
                <a:ea typeface="Montserrat Bold"/>
                <a:cs typeface="Montserrat Bold"/>
                <a:sym typeface="Montserrat Bold"/>
              </a:rPr>
              <a:t>01.</a:t>
            </a:r>
          </a:p>
        </p:txBody>
      </p:sp>
      <p:sp>
        <p:nvSpPr>
          <p:cNvPr id="23" name="TextBox 23"/>
          <p:cNvSpPr txBox="1"/>
          <p:nvPr/>
        </p:nvSpPr>
        <p:spPr>
          <a:xfrm>
            <a:off x="14285353" y="2079545"/>
            <a:ext cx="1575227" cy="327521"/>
          </a:xfrm>
          <a:prstGeom prst="rect">
            <a:avLst/>
          </a:prstGeom>
        </p:spPr>
        <p:txBody>
          <a:bodyPr lIns="0" tIns="0" rIns="0" bIns="0" rtlCol="0" anchor="t">
            <a:spAutoFit/>
          </a:bodyPr>
          <a:lstStyle/>
          <a:p>
            <a:pPr algn="l">
              <a:lnSpc>
                <a:spcPts val="2514"/>
              </a:lnSpc>
            </a:pPr>
            <a:r>
              <a:rPr lang="en-US" sz="2514">
                <a:solidFill>
                  <a:srgbClr val="C3C3C3"/>
                </a:solidFill>
                <a:latin typeface="Montserrat"/>
                <a:ea typeface="Montserrat"/>
                <a:cs typeface="Montserrat"/>
                <a:sym typeface="Montserrat"/>
              </a:rPr>
              <a:t>Audience</a:t>
            </a:r>
          </a:p>
        </p:txBody>
      </p:sp>
      <p:sp>
        <p:nvSpPr>
          <p:cNvPr id="24" name="TextBox 24"/>
          <p:cNvSpPr txBox="1"/>
          <p:nvPr/>
        </p:nvSpPr>
        <p:spPr>
          <a:xfrm>
            <a:off x="13460103" y="2060817"/>
            <a:ext cx="593607" cy="364976"/>
          </a:xfrm>
          <a:prstGeom prst="rect">
            <a:avLst/>
          </a:prstGeom>
        </p:spPr>
        <p:txBody>
          <a:bodyPr lIns="0" tIns="0" rIns="0" bIns="0" rtlCol="0" anchor="t">
            <a:spAutoFit/>
          </a:bodyPr>
          <a:lstStyle/>
          <a:p>
            <a:pPr algn="l">
              <a:lnSpc>
                <a:spcPts val="2749"/>
              </a:lnSpc>
            </a:pPr>
            <a:r>
              <a:rPr lang="en-US" sz="2749" b="1">
                <a:solidFill>
                  <a:srgbClr val="C3C3C3"/>
                </a:solidFill>
                <a:latin typeface="Montserrat Bold"/>
                <a:ea typeface="Montserrat Bold"/>
                <a:cs typeface="Montserrat Bold"/>
                <a:sym typeface="Montserrat Bold"/>
              </a:rPr>
              <a:t>02.</a:t>
            </a:r>
          </a:p>
        </p:txBody>
      </p:sp>
      <p:sp>
        <p:nvSpPr>
          <p:cNvPr id="25" name="TextBox 25"/>
          <p:cNvSpPr txBox="1"/>
          <p:nvPr/>
        </p:nvSpPr>
        <p:spPr>
          <a:xfrm>
            <a:off x="10199722" y="3815101"/>
            <a:ext cx="2210264" cy="638794"/>
          </a:xfrm>
          <a:prstGeom prst="rect">
            <a:avLst/>
          </a:prstGeom>
        </p:spPr>
        <p:txBody>
          <a:bodyPr lIns="0" tIns="0" rIns="0" bIns="0" rtlCol="0" anchor="t">
            <a:spAutoFit/>
          </a:bodyPr>
          <a:lstStyle/>
          <a:p>
            <a:pPr algn="l">
              <a:lnSpc>
                <a:spcPts val="2514"/>
              </a:lnSpc>
            </a:pPr>
            <a:r>
              <a:rPr lang="en-US" sz="2514">
                <a:solidFill>
                  <a:srgbClr val="C3C3C3"/>
                </a:solidFill>
                <a:latin typeface="Montserrat"/>
                <a:ea typeface="Montserrat"/>
                <a:cs typeface="Montserrat"/>
                <a:sym typeface="Montserrat"/>
              </a:rPr>
              <a:t>Sales By Branch</a:t>
            </a:r>
          </a:p>
        </p:txBody>
      </p:sp>
      <p:sp>
        <p:nvSpPr>
          <p:cNvPr id="26" name="TextBox 26"/>
          <p:cNvSpPr txBox="1"/>
          <p:nvPr/>
        </p:nvSpPr>
        <p:spPr>
          <a:xfrm>
            <a:off x="9338156" y="3952010"/>
            <a:ext cx="583986" cy="364976"/>
          </a:xfrm>
          <a:prstGeom prst="rect">
            <a:avLst/>
          </a:prstGeom>
        </p:spPr>
        <p:txBody>
          <a:bodyPr lIns="0" tIns="0" rIns="0" bIns="0" rtlCol="0" anchor="t">
            <a:spAutoFit/>
          </a:bodyPr>
          <a:lstStyle/>
          <a:p>
            <a:pPr algn="l">
              <a:lnSpc>
                <a:spcPts val="2749"/>
              </a:lnSpc>
            </a:pPr>
            <a:r>
              <a:rPr lang="en-US" sz="2749" b="1">
                <a:solidFill>
                  <a:srgbClr val="C3C3C3"/>
                </a:solidFill>
                <a:latin typeface="Montserrat Bold"/>
                <a:ea typeface="Montserrat Bold"/>
                <a:cs typeface="Montserrat Bold"/>
                <a:sym typeface="Montserrat Bold"/>
              </a:rPr>
              <a:t>03.</a:t>
            </a:r>
          </a:p>
        </p:txBody>
      </p:sp>
      <p:sp>
        <p:nvSpPr>
          <p:cNvPr id="27" name="TextBox 27"/>
          <p:cNvSpPr txBox="1"/>
          <p:nvPr/>
        </p:nvSpPr>
        <p:spPr>
          <a:xfrm>
            <a:off x="13460103" y="3952398"/>
            <a:ext cx="583986" cy="364976"/>
          </a:xfrm>
          <a:prstGeom prst="rect">
            <a:avLst/>
          </a:prstGeom>
        </p:spPr>
        <p:txBody>
          <a:bodyPr lIns="0" tIns="0" rIns="0" bIns="0" rtlCol="0" anchor="t">
            <a:spAutoFit/>
          </a:bodyPr>
          <a:lstStyle/>
          <a:p>
            <a:pPr algn="l">
              <a:lnSpc>
                <a:spcPts val="2749"/>
              </a:lnSpc>
            </a:pPr>
            <a:r>
              <a:rPr lang="en-US" sz="2749" b="1">
                <a:solidFill>
                  <a:srgbClr val="C3C3C3"/>
                </a:solidFill>
                <a:latin typeface="Montserrat Bold"/>
                <a:ea typeface="Montserrat Bold"/>
                <a:cs typeface="Montserrat Bold"/>
                <a:sym typeface="Montserrat Bold"/>
              </a:rPr>
              <a:t>04.</a:t>
            </a:r>
          </a:p>
        </p:txBody>
      </p:sp>
      <p:sp>
        <p:nvSpPr>
          <p:cNvPr id="28" name="TextBox 28"/>
          <p:cNvSpPr txBox="1"/>
          <p:nvPr/>
        </p:nvSpPr>
        <p:spPr>
          <a:xfrm>
            <a:off x="10085422" y="5841189"/>
            <a:ext cx="2210264" cy="950067"/>
          </a:xfrm>
          <a:prstGeom prst="rect">
            <a:avLst/>
          </a:prstGeom>
        </p:spPr>
        <p:txBody>
          <a:bodyPr lIns="0" tIns="0" rIns="0" bIns="0" rtlCol="0" anchor="t">
            <a:spAutoFit/>
          </a:bodyPr>
          <a:lstStyle/>
          <a:p>
            <a:pPr algn="l">
              <a:lnSpc>
                <a:spcPts val="2514"/>
              </a:lnSpc>
            </a:pPr>
            <a:r>
              <a:rPr lang="en-US" sz="2514">
                <a:solidFill>
                  <a:srgbClr val="C3C3C3"/>
                </a:solidFill>
                <a:latin typeface="Montserrat"/>
                <a:ea typeface="Montserrat"/>
                <a:cs typeface="Montserrat"/>
                <a:sym typeface="Montserrat"/>
              </a:rPr>
              <a:t>Top Product Lines by Sales</a:t>
            </a:r>
          </a:p>
        </p:txBody>
      </p:sp>
      <p:sp>
        <p:nvSpPr>
          <p:cNvPr id="29" name="TextBox 29"/>
          <p:cNvSpPr txBox="1"/>
          <p:nvPr/>
        </p:nvSpPr>
        <p:spPr>
          <a:xfrm>
            <a:off x="9338156" y="6066423"/>
            <a:ext cx="583986" cy="364976"/>
          </a:xfrm>
          <a:prstGeom prst="rect">
            <a:avLst/>
          </a:prstGeom>
        </p:spPr>
        <p:txBody>
          <a:bodyPr lIns="0" tIns="0" rIns="0" bIns="0" rtlCol="0" anchor="t">
            <a:spAutoFit/>
          </a:bodyPr>
          <a:lstStyle/>
          <a:p>
            <a:pPr algn="l">
              <a:lnSpc>
                <a:spcPts val="2749"/>
              </a:lnSpc>
            </a:pPr>
            <a:r>
              <a:rPr lang="en-US" sz="2749" b="1">
                <a:solidFill>
                  <a:srgbClr val="C3C3C3"/>
                </a:solidFill>
                <a:latin typeface="Montserrat Bold"/>
                <a:ea typeface="Montserrat Bold"/>
                <a:cs typeface="Montserrat Bold"/>
                <a:sym typeface="Montserrat Bold"/>
              </a:rPr>
              <a:t>05.</a:t>
            </a:r>
          </a:p>
        </p:txBody>
      </p:sp>
      <p:sp>
        <p:nvSpPr>
          <p:cNvPr id="30" name="Freeform 30"/>
          <p:cNvSpPr/>
          <p:nvPr/>
        </p:nvSpPr>
        <p:spPr>
          <a:xfrm rot="5400000" flipH="1" flipV="1">
            <a:off x="14798535" y="7976361"/>
            <a:ext cx="6978931" cy="7005200"/>
          </a:xfrm>
          <a:custGeom>
            <a:avLst/>
            <a:gdLst/>
            <a:ahLst/>
            <a:cxnLst/>
            <a:rect l="l" t="t" r="r" b="b"/>
            <a:pathLst>
              <a:path w="6978931" h="7005200">
                <a:moveTo>
                  <a:pt x="6978930" y="7005200"/>
                </a:moveTo>
                <a:lnTo>
                  <a:pt x="0" y="7005200"/>
                </a:lnTo>
                <a:lnTo>
                  <a:pt x="0" y="0"/>
                </a:lnTo>
                <a:lnTo>
                  <a:pt x="6978930" y="0"/>
                </a:lnTo>
                <a:lnTo>
                  <a:pt x="6978930" y="7005200"/>
                </a:lnTo>
                <a:close/>
              </a:path>
            </a:pathLst>
          </a:custGeom>
          <a:blipFill>
            <a:blip r:embed="rId2"/>
            <a:stretch>
              <a:fillRect/>
            </a:stretch>
          </a:blipFill>
        </p:spPr>
      </p:sp>
      <p:sp>
        <p:nvSpPr>
          <p:cNvPr id="31" name="AutoShape 31"/>
          <p:cNvSpPr/>
          <p:nvPr/>
        </p:nvSpPr>
        <p:spPr>
          <a:xfrm>
            <a:off x="13340584" y="8401594"/>
            <a:ext cx="3431653" cy="40028"/>
          </a:xfrm>
          <a:prstGeom prst="line">
            <a:avLst/>
          </a:prstGeom>
          <a:ln w="38100" cap="flat">
            <a:solidFill>
              <a:srgbClr val="C3C3C3"/>
            </a:solidFill>
            <a:prstDash val="solid"/>
            <a:headEnd type="none" w="sm" len="sm"/>
            <a:tailEnd type="none" w="sm" len="sm"/>
          </a:ln>
        </p:spPr>
      </p:sp>
      <p:sp>
        <p:nvSpPr>
          <p:cNvPr id="32" name="TextBox 32"/>
          <p:cNvSpPr txBox="1"/>
          <p:nvPr/>
        </p:nvSpPr>
        <p:spPr>
          <a:xfrm>
            <a:off x="14285353" y="3815489"/>
            <a:ext cx="2210264" cy="638794"/>
          </a:xfrm>
          <a:prstGeom prst="rect">
            <a:avLst/>
          </a:prstGeom>
        </p:spPr>
        <p:txBody>
          <a:bodyPr lIns="0" tIns="0" rIns="0" bIns="0" rtlCol="0" anchor="t">
            <a:spAutoFit/>
          </a:bodyPr>
          <a:lstStyle/>
          <a:p>
            <a:pPr algn="l">
              <a:lnSpc>
                <a:spcPts val="2514"/>
              </a:lnSpc>
            </a:pPr>
            <a:r>
              <a:rPr lang="en-US" sz="2514">
                <a:solidFill>
                  <a:srgbClr val="C3C3C3"/>
                </a:solidFill>
                <a:latin typeface="Montserrat"/>
                <a:ea typeface="Montserrat"/>
                <a:cs typeface="Montserrat"/>
                <a:sym typeface="Montserrat"/>
              </a:rPr>
              <a:t>Payment Methods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166678">
                <a:alpha val="100000"/>
              </a:srgbClr>
            </a:gs>
            <a:gs pos="100000">
              <a:srgbClr val="212626">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extBox 2"/>
          <p:cNvSpPr txBox="1"/>
          <p:nvPr/>
        </p:nvSpPr>
        <p:spPr>
          <a:xfrm>
            <a:off x="7895437" y="1495356"/>
            <a:ext cx="8465591" cy="2454971"/>
          </a:xfrm>
          <a:prstGeom prst="rect">
            <a:avLst/>
          </a:prstGeom>
        </p:spPr>
        <p:txBody>
          <a:bodyPr lIns="0" tIns="0" rIns="0" bIns="0" rtlCol="0" anchor="t">
            <a:spAutoFit/>
          </a:bodyPr>
          <a:lstStyle/>
          <a:p>
            <a:pPr algn="r">
              <a:lnSpc>
                <a:spcPts val="8524"/>
              </a:lnSpc>
            </a:pPr>
            <a:r>
              <a:rPr lang="en-US" sz="8524">
                <a:solidFill>
                  <a:srgbClr val="FFFFFF"/>
                </a:solidFill>
                <a:latin typeface="Agrandir"/>
                <a:ea typeface="Agrandir"/>
                <a:cs typeface="Agrandir"/>
                <a:sym typeface="Agrandir"/>
              </a:rPr>
              <a:t>FINANCIAL PERFORMANCE</a:t>
            </a:r>
          </a:p>
        </p:txBody>
      </p:sp>
      <p:sp>
        <p:nvSpPr>
          <p:cNvPr id="3" name="TextBox 3"/>
          <p:cNvSpPr txBox="1"/>
          <p:nvPr/>
        </p:nvSpPr>
        <p:spPr>
          <a:xfrm>
            <a:off x="5592169" y="4201584"/>
            <a:ext cx="10343782" cy="763232"/>
          </a:xfrm>
          <a:prstGeom prst="rect">
            <a:avLst/>
          </a:prstGeom>
        </p:spPr>
        <p:txBody>
          <a:bodyPr lIns="0" tIns="0" rIns="0" bIns="0" rtlCol="0" anchor="t">
            <a:spAutoFit/>
          </a:bodyPr>
          <a:lstStyle/>
          <a:p>
            <a:pPr algn="r">
              <a:lnSpc>
                <a:spcPts val="3068"/>
              </a:lnSpc>
            </a:pPr>
            <a:r>
              <a:rPr lang="en-US" sz="2815">
                <a:solidFill>
                  <a:srgbClr val="BFBFBF"/>
                </a:solidFill>
                <a:latin typeface="Montserrat"/>
                <a:ea typeface="Montserrat"/>
                <a:cs typeface="Montserrat"/>
                <a:sym typeface="Montserrat"/>
              </a:rPr>
              <a:t>The sales we got partuculars months has had quite a positive impact on the company, here are the details:</a:t>
            </a:r>
          </a:p>
        </p:txBody>
      </p:sp>
      <p:grpSp>
        <p:nvGrpSpPr>
          <p:cNvPr id="4" name="Group 4"/>
          <p:cNvGrpSpPr/>
          <p:nvPr/>
        </p:nvGrpSpPr>
        <p:grpSpPr>
          <a:xfrm>
            <a:off x="291500" y="340377"/>
            <a:ext cx="4539009" cy="2772664"/>
            <a:chOff x="0" y="0"/>
            <a:chExt cx="1272366" cy="777227"/>
          </a:xfrm>
        </p:grpSpPr>
        <p:sp>
          <p:nvSpPr>
            <p:cNvPr id="5" name="Freeform 5"/>
            <p:cNvSpPr/>
            <p:nvPr/>
          </p:nvSpPr>
          <p:spPr>
            <a:xfrm>
              <a:off x="0" y="0"/>
              <a:ext cx="1272366" cy="777227"/>
            </a:xfrm>
            <a:custGeom>
              <a:avLst/>
              <a:gdLst/>
              <a:ahLst/>
              <a:cxnLst/>
              <a:rect l="l" t="t" r="r" b="b"/>
              <a:pathLst>
                <a:path w="1272366" h="777227">
                  <a:moveTo>
                    <a:pt x="86988" y="0"/>
                  </a:moveTo>
                  <a:lnTo>
                    <a:pt x="1185378" y="0"/>
                  </a:lnTo>
                  <a:cubicBezTo>
                    <a:pt x="1208448" y="0"/>
                    <a:pt x="1230574" y="9165"/>
                    <a:pt x="1246887" y="25478"/>
                  </a:cubicBezTo>
                  <a:cubicBezTo>
                    <a:pt x="1263201" y="41791"/>
                    <a:pt x="1272366" y="63917"/>
                    <a:pt x="1272366" y="86988"/>
                  </a:cubicBezTo>
                  <a:lnTo>
                    <a:pt x="1272366" y="690240"/>
                  </a:lnTo>
                  <a:cubicBezTo>
                    <a:pt x="1272366" y="713310"/>
                    <a:pt x="1263201" y="735436"/>
                    <a:pt x="1246887" y="751749"/>
                  </a:cubicBezTo>
                  <a:cubicBezTo>
                    <a:pt x="1230574" y="768063"/>
                    <a:pt x="1208448" y="777227"/>
                    <a:pt x="1185378" y="777227"/>
                  </a:cubicBezTo>
                  <a:lnTo>
                    <a:pt x="86988" y="777227"/>
                  </a:lnTo>
                  <a:cubicBezTo>
                    <a:pt x="63917" y="777227"/>
                    <a:pt x="41791" y="768063"/>
                    <a:pt x="25478" y="751749"/>
                  </a:cubicBezTo>
                  <a:cubicBezTo>
                    <a:pt x="9165" y="735436"/>
                    <a:pt x="0" y="713310"/>
                    <a:pt x="0" y="690240"/>
                  </a:cubicBezTo>
                  <a:lnTo>
                    <a:pt x="0" y="86988"/>
                  </a:lnTo>
                  <a:cubicBezTo>
                    <a:pt x="0" y="63917"/>
                    <a:pt x="9165" y="41791"/>
                    <a:pt x="25478" y="25478"/>
                  </a:cubicBezTo>
                  <a:cubicBezTo>
                    <a:pt x="41791" y="9165"/>
                    <a:pt x="63917" y="0"/>
                    <a:pt x="86988" y="0"/>
                  </a:cubicBezTo>
                  <a:close/>
                </a:path>
              </a:pathLst>
            </a:custGeom>
            <a:solidFill>
              <a:srgbClr val="166678"/>
            </a:solidFill>
            <a:ln w="9525" cap="rnd">
              <a:solidFill>
                <a:srgbClr val="FFFFFF"/>
              </a:solidFill>
              <a:prstDash val="solid"/>
              <a:round/>
            </a:ln>
          </p:spPr>
        </p:sp>
        <p:sp>
          <p:nvSpPr>
            <p:cNvPr id="6" name="TextBox 6"/>
            <p:cNvSpPr txBox="1"/>
            <p:nvPr/>
          </p:nvSpPr>
          <p:spPr>
            <a:xfrm>
              <a:off x="0" y="-38100"/>
              <a:ext cx="1272366" cy="815327"/>
            </a:xfrm>
            <a:prstGeom prst="rect">
              <a:avLst/>
            </a:prstGeom>
          </p:spPr>
          <p:txBody>
            <a:bodyPr lIns="49065" tIns="49065" rIns="49065" bIns="49065" rtlCol="0" anchor="ctr"/>
            <a:lstStyle/>
            <a:p>
              <a:pPr algn="ctr">
                <a:lnSpc>
                  <a:spcPts val="2659"/>
                </a:lnSpc>
                <a:spcBef>
                  <a:spcPct val="0"/>
                </a:spcBef>
              </a:pPr>
              <a:endParaRPr/>
            </a:p>
          </p:txBody>
        </p:sp>
      </p:grpSp>
      <p:grpSp>
        <p:nvGrpSpPr>
          <p:cNvPr id="7" name="Group 7"/>
          <p:cNvGrpSpPr/>
          <p:nvPr/>
        </p:nvGrpSpPr>
        <p:grpSpPr>
          <a:xfrm>
            <a:off x="338785" y="3598057"/>
            <a:ext cx="4539009" cy="2772664"/>
            <a:chOff x="0" y="0"/>
            <a:chExt cx="1272366" cy="777227"/>
          </a:xfrm>
        </p:grpSpPr>
        <p:sp>
          <p:nvSpPr>
            <p:cNvPr id="8" name="Freeform 8"/>
            <p:cNvSpPr/>
            <p:nvPr/>
          </p:nvSpPr>
          <p:spPr>
            <a:xfrm>
              <a:off x="0" y="0"/>
              <a:ext cx="1272366" cy="777227"/>
            </a:xfrm>
            <a:custGeom>
              <a:avLst/>
              <a:gdLst/>
              <a:ahLst/>
              <a:cxnLst/>
              <a:rect l="l" t="t" r="r" b="b"/>
              <a:pathLst>
                <a:path w="1272366" h="777227">
                  <a:moveTo>
                    <a:pt x="86988" y="0"/>
                  </a:moveTo>
                  <a:lnTo>
                    <a:pt x="1185378" y="0"/>
                  </a:lnTo>
                  <a:cubicBezTo>
                    <a:pt x="1208448" y="0"/>
                    <a:pt x="1230574" y="9165"/>
                    <a:pt x="1246887" y="25478"/>
                  </a:cubicBezTo>
                  <a:cubicBezTo>
                    <a:pt x="1263201" y="41791"/>
                    <a:pt x="1272366" y="63917"/>
                    <a:pt x="1272366" y="86988"/>
                  </a:cubicBezTo>
                  <a:lnTo>
                    <a:pt x="1272366" y="690240"/>
                  </a:lnTo>
                  <a:cubicBezTo>
                    <a:pt x="1272366" y="713310"/>
                    <a:pt x="1263201" y="735436"/>
                    <a:pt x="1246887" y="751749"/>
                  </a:cubicBezTo>
                  <a:cubicBezTo>
                    <a:pt x="1230574" y="768063"/>
                    <a:pt x="1208448" y="777227"/>
                    <a:pt x="1185378" y="777227"/>
                  </a:cubicBezTo>
                  <a:lnTo>
                    <a:pt x="86988" y="777227"/>
                  </a:lnTo>
                  <a:cubicBezTo>
                    <a:pt x="63917" y="777227"/>
                    <a:pt x="41791" y="768063"/>
                    <a:pt x="25478" y="751749"/>
                  </a:cubicBezTo>
                  <a:cubicBezTo>
                    <a:pt x="9165" y="735436"/>
                    <a:pt x="0" y="713310"/>
                    <a:pt x="0" y="690240"/>
                  </a:cubicBezTo>
                  <a:lnTo>
                    <a:pt x="0" y="86988"/>
                  </a:lnTo>
                  <a:cubicBezTo>
                    <a:pt x="0" y="63917"/>
                    <a:pt x="9165" y="41791"/>
                    <a:pt x="25478" y="25478"/>
                  </a:cubicBezTo>
                  <a:cubicBezTo>
                    <a:pt x="41791" y="9165"/>
                    <a:pt x="63917" y="0"/>
                    <a:pt x="86988" y="0"/>
                  </a:cubicBezTo>
                  <a:close/>
                </a:path>
              </a:pathLst>
            </a:custGeom>
            <a:solidFill>
              <a:srgbClr val="166678"/>
            </a:solidFill>
            <a:ln w="9525" cap="rnd">
              <a:solidFill>
                <a:srgbClr val="FFFFFF"/>
              </a:solidFill>
              <a:prstDash val="solid"/>
              <a:round/>
            </a:ln>
          </p:spPr>
        </p:sp>
        <p:sp>
          <p:nvSpPr>
            <p:cNvPr id="9" name="TextBox 9"/>
            <p:cNvSpPr txBox="1"/>
            <p:nvPr/>
          </p:nvSpPr>
          <p:spPr>
            <a:xfrm>
              <a:off x="0" y="-38100"/>
              <a:ext cx="1272366" cy="815327"/>
            </a:xfrm>
            <a:prstGeom prst="rect">
              <a:avLst/>
            </a:prstGeom>
          </p:spPr>
          <p:txBody>
            <a:bodyPr lIns="49065" tIns="49065" rIns="49065" bIns="49065" rtlCol="0" anchor="ctr"/>
            <a:lstStyle/>
            <a:p>
              <a:pPr algn="ctr">
                <a:lnSpc>
                  <a:spcPts val="2659"/>
                </a:lnSpc>
                <a:spcBef>
                  <a:spcPct val="0"/>
                </a:spcBef>
              </a:pPr>
              <a:endParaRPr/>
            </a:p>
          </p:txBody>
        </p:sp>
      </p:grpSp>
      <p:grpSp>
        <p:nvGrpSpPr>
          <p:cNvPr id="10" name="Group 10"/>
          <p:cNvGrpSpPr/>
          <p:nvPr/>
        </p:nvGrpSpPr>
        <p:grpSpPr>
          <a:xfrm>
            <a:off x="338785" y="7046841"/>
            <a:ext cx="4539009" cy="2772664"/>
            <a:chOff x="0" y="0"/>
            <a:chExt cx="1272366" cy="777227"/>
          </a:xfrm>
        </p:grpSpPr>
        <p:sp>
          <p:nvSpPr>
            <p:cNvPr id="11" name="Freeform 11"/>
            <p:cNvSpPr/>
            <p:nvPr/>
          </p:nvSpPr>
          <p:spPr>
            <a:xfrm>
              <a:off x="0" y="0"/>
              <a:ext cx="1272366" cy="777227"/>
            </a:xfrm>
            <a:custGeom>
              <a:avLst/>
              <a:gdLst/>
              <a:ahLst/>
              <a:cxnLst/>
              <a:rect l="l" t="t" r="r" b="b"/>
              <a:pathLst>
                <a:path w="1272366" h="777227">
                  <a:moveTo>
                    <a:pt x="86988" y="0"/>
                  </a:moveTo>
                  <a:lnTo>
                    <a:pt x="1185378" y="0"/>
                  </a:lnTo>
                  <a:cubicBezTo>
                    <a:pt x="1208448" y="0"/>
                    <a:pt x="1230574" y="9165"/>
                    <a:pt x="1246887" y="25478"/>
                  </a:cubicBezTo>
                  <a:cubicBezTo>
                    <a:pt x="1263201" y="41791"/>
                    <a:pt x="1272366" y="63917"/>
                    <a:pt x="1272366" y="86988"/>
                  </a:cubicBezTo>
                  <a:lnTo>
                    <a:pt x="1272366" y="690240"/>
                  </a:lnTo>
                  <a:cubicBezTo>
                    <a:pt x="1272366" y="713310"/>
                    <a:pt x="1263201" y="735436"/>
                    <a:pt x="1246887" y="751749"/>
                  </a:cubicBezTo>
                  <a:cubicBezTo>
                    <a:pt x="1230574" y="768063"/>
                    <a:pt x="1208448" y="777227"/>
                    <a:pt x="1185378" y="777227"/>
                  </a:cubicBezTo>
                  <a:lnTo>
                    <a:pt x="86988" y="777227"/>
                  </a:lnTo>
                  <a:cubicBezTo>
                    <a:pt x="63917" y="777227"/>
                    <a:pt x="41791" y="768063"/>
                    <a:pt x="25478" y="751749"/>
                  </a:cubicBezTo>
                  <a:cubicBezTo>
                    <a:pt x="9165" y="735436"/>
                    <a:pt x="0" y="713310"/>
                    <a:pt x="0" y="690240"/>
                  </a:cubicBezTo>
                  <a:lnTo>
                    <a:pt x="0" y="86988"/>
                  </a:lnTo>
                  <a:cubicBezTo>
                    <a:pt x="0" y="63917"/>
                    <a:pt x="9165" y="41791"/>
                    <a:pt x="25478" y="25478"/>
                  </a:cubicBezTo>
                  <a:cubicBezTo>
                    <a:pt x="41791" y="9165"/>
                    <a:pt x="63917" y="0"/>
                    <a:pt x="86988" y="0"/>
                  </a:cubicBezTo>
                  <a:close/>
                </a:path>
              </a:pathLst>
            </a:custGeom>
            <a:solidFill>
              <a:srgbClr val="166678"/>
            </a:solidFill>
            <a:ln w="9525" cap="rnd">
              <a:solidFill>
                <a:srgbClr val="FFFFFF"/>
              </a:solidFill>
              <a:prstDash val="solid"/>
              <a:round/>
            </a:ln>
          </p:spPr>
        </p:sp>
        <p:sp>
          <p:nvSpPr>
            <p:cNvPr id="12" name="TextBox 12"/>
            <p:cNvSpPr txBox="1"/>
            <p:nvPr/>
          </p:nvSpPr>
          <p:spPr>
            <a:xfrm>
              <a:off x="0" y="-38100"/>
              <a:ext cx="1272366" cy="815327"/>
            </a:xfrm>
            <a:prstGeom prst="rect">
              <a:avLst/>
            </a:prstGeom>
          </p:spPr>
          <p:txBody>
            <a:bodyPr lIns="49065" tIns="49065" rIns="49065" bIns="49065" rtlCol="0" anchor="ctr"/>
            <a:lstStyle/>
            <a:p>
              <a:pPr algn="ctr">
                <a:lnSpc>
                  <a:spcPts val="2659"/>
                </a:lnSpc>
                <a:spcBef>
                  <a:spcPct val="0"/>
                </a:spcBef>
              </a:pPr>
              <a:endParaRPr/>
            </a:p>
          </p:txBody>
        </p:sp>
      </p:grpSp>
      <p:sp>
        <p:nvSpPr>
          <p:cNvPr id="13" name="Freeform 13"/>
          <p:cNvSpPr/>
          <p:nvPr/>
        </p:nvSpPr>
        <p:spPr>
          <a:xfrm rot="5400000" flipH="1" flipV="1">
            <a:off x="17081658" y="4750348"/>
            <a:ext cx="2412684" cy="2421766"/>
          </a:xfrm>
          <a:custGeom>
            <a:avLst/>
            <a:gdLst/>
            <a:ahLst/>
            <a:cxnLst/>
            <a:rect l="l" t="t" r="r" b="b"/>
            <a:pathLst>
              <a:path w="2412684" h="2421766">
                <a:moveTo>
                  <a:pt x="2412684" y="2421766"/>
                </a:moveTo>
                <a:lnTo>
                  <a:pt x="0" y="2421766"/>
                </a:lnTo>
                <a:lnTo>
                  <a:pt x="0" y="0"/>
                </a:lnTo>
                <a:lnTo>
                  <a:pt x="2412684" y="0"/>
                </a:lnTo>
                <a:lnTo>
                  <a:pt x="2412684" y="2421766"/>
                </a:lnTo>
                <a:close/>
              </a:path>
            </a:pathLst>
          </a:custGeom>
          <a:blipFill>
            <a:blip r:embed="rId2">
              <a:alphaModFix amt="50000"/>
            </a:blip>
            <a:stretch>
              <a:fillRect/>
            </a:stretch>
          </a:blipFill>
        </p:spPr>
      </p:sp>
      <p:sp>
        <p:nvSpPr>
          <p:cNvPr id="14" name="TextBox 14"/>
          <p:cNvSpPr txBox="1"/>
          <p:nvPr/>
        </p:nvSpPr>
        <p:spPr>
          <a:xfrm>
            <a:off x="1596048" y="1127127"/>
            <a:ext cx="1945087" cy="448899"/>
          </a:xfrm>
          <a:prstGeom prst="rect">
            <a:avLst/>
          </a:prstGeom>
        </p:spPr>
        <p:txBody>
          <a:bodyPr lIns="0" tIns="0" rIns="0" bIns="0" rtlCol="0" anchor="t">
            <a:spAutoFit/>
          </a:bodyPr>
          <a:lstStyle/>
          <a:p>
            <a:pPr algn="ctr">
              <a:lnSpc>
                <a:spcPts val="3423"/>
              </a:lnSpc>
            </a:pPr>
            <a:r>
              <a:rPr lang="en-US" sz="3423">
                <a:solidFill>
                  <a:srgbClr val="C3C3C3"/>
                </a:solidFill>
                <a:latin typeface="Montserrat"/>
                <a:ea typeface="Montserrat"/>
                <a:cs typeface="Montserrat"/>
                <a:sym typeface="Montserrat"/>
              </a:rPr>
              <a:t>January</a:t>
            </a:r>
          </a:p>
        </p:txBody>
      </p:sp>
      <p:sp>
        <p:nvSpPr>
          <p:cNvPr id="15" name="TextBox 15"/>
          <p:cNvSpPr txBox="1"/>
          <p:nvPr/>
        </p:nvSpPr>
        <p:spPr>
          <a:xfrm>
            <a:off x="745884" y="1921363"/>
            <a:ext cx="3645414" cy="471678"/>
          </a:xfrm>
          <a:prstGeom prst="rect">
            <a:avLst/>
          </a:prstGeom>
        </p:spPr>
        <p:txBody>
          <a:bodyPr lIns="0" tIns="0" rIns="0" bIns="0" rtlCol="0" anchor="t">
            <a:spAutoFit/>
          </a:bodyPr>
          <a:lstStyle/>
          <a:p>
            <a:pPr algn="ctr">
              <a:lnSpc>
                <a:spcPts val="3570"/>
              </a:lnSpc>
            </a:pPr>
            <a:r>
              <a:rPr lang="en-US" sz="3570" b="1" dirty="0">
                <a:solidFill>
                  <a:srgbClr val="FFFFFF"/>
                </a:solidFill>
                <a:latin typeface="Montserrat Bold"/>
                <a:ea typeface="Montserrat Bold"/>
                <a:cs typeface="Montserrat Bold"/>
                <a:sym typeface="Montserrat Bold"/>
              </a:rPr>
              <a:t>$ 116,291</a:t>
            </a:r>
          </a:p>
        </p:txBody>
      </p:sp>
      <p:sp>
        <p:nvSpPr>
          <p:cNvPr id="16" name="TextBox 16"/>
          <p:cNvSpPr txBox="1"/>
          <p:nvPr/>
        </p:nvSpPr>
        <p:spPr>
          <a:xfrm>
            <a:off x="1497736" y="4384806"/>
            <a:ext cx="2221107" cy="448899"/>
          </a:xfrm>
          <a:prstGeom prst="rect">
            <a:avLst/>
          </a:prstGeom>
        </p:spPr>
        <p:txBody>
          <a:bodyPr lIns="0" tIns="0" rIns="0" bIns="0" rtlCol="0" anchor="t">
            <a:spAutoFit/>
          </a:bodyPr>
          <a:lstStyle/>
          <a:p>
            <a:pPr algn="ctr">
              <a:lnSpc>
                <a:spcPts val="3423"/>
              </a:lnSpc>
            </a:pPr>
            <a:r>
              <a:rPr lang="en-US" sz="3423">
                <a:solidFill>
                  <a:srgbClr val="C3C3C3"/>
                </a:solidFill>
                <a:latin typeface="Montserrat"/>
                <a:ea typeface="Montserrat"/>
                <a:cs typeface="Montserrat"/>
                <a:sym typeface="Montserrat"/>
              </a:rPr>
              <a:t>Febaury</a:t>
            </a:r>
          </a:p>
        </p:txBody>
      </p:sp>
      <p:sp>
        <p:nvSpPr>
          <p:cNvPr id="17" name="TextBox 17"/>
          <p:cNvSpPr txBox="1"/>
          <p:nvPr/>
        </p:nvSpPr>
        <p:spPr>
          <a:xfrm>
            <a:off x="775691" y="5179044"/>
            <a:ext cx="3665196" cy="471676"/>
          </a:xfrm>
          <a:prstGeom prst="rect">
            <a:avLst/>
          </a:prstGeom>
        </p:spPr>
        <p:txBody>
          <a:bodyPr lIns="0" tIns="0" rIns="0" bIns="0" rtlCol="0" anchor="t">
            <a:spAutoFit/>
          </a:bodyPr>
          <a:lstStyle/>
          <a:p>
            <a:pPr algn="ctr">
              <a:lnSpc>
                <a:spcPts val="3569"/>
              </a:lnSpc>
            </a:pPr>
            <a:r>
              <a:rPr lang="en-US" sz="3569" b="1">
                <a:solidFill>
                  <a:srgbClr val="FFFFFF"/>
                </a:solidFill>
                <a:latin typeface="Montserrat Bold"/>
                <a:ea typeface="Montserrat Bold"/>
                <a:cs typeface="Montserrat Bold"/>
                <a:sym typeface="Montserrat Bold"/>
              </a:rPr>
              <a:t>$ 97,219</a:t>
            </a:r>
          </a:p>
        </p:txBody>
      </p:sp>
      <p:sp>
        <p:nvSpPr>
          <p:cNvPr id="18" name="TextBox 18"/>
          <p:cNvSpPr txBox="1"/>
          <p:nvPr/>
        </p:nvSpPr>
        <p:spPr>
          <a:xfrm>
            <a:off x="1339479" y="7984997"/>
            <a:ext cx="2537620" cy="448899"/>
          </a:xfrm>
          <a:prstGeom prst="rect">
            <a:avLst/>
          </a:prstGeom>
        </p:spPr>
        <p:txBody>
          <a:bodyPr lIns="0" tIns="0" rIns="0" bIns="0" rtlCol="0" anchor="t">
            <a:spAutoFit/>
          </a:bodyPr>
          <a:lstStyle/>
          <a:p>
            <a:pPr algn="ctr">
              <a:lnSpc>
                <a:spcPts val="3423"/>
              </a:lnSpc>
            </a:pPr>
            <a:r>
              <a:rPr lang="en-US" sz="3423">
                <a:solidFill>
                  <a:srgbClr val="C3C3C3"/>
                </a:solidFill>
                <a:latin typeface="Montserrat"/>
                <a:ea typeface="Montserrat"/>
                <a:cs typeface="Montserrat"/>
                <a:sym typeface="Montserrat"/>
              </a:rPr>
              <a:t>March</a:t>
            </a:r>
          </a:p>
        </p:txBody>
      </p:sp>
      <p:sp>
        <p:nvSpPr>
          <p:cNvPr id="19" name="TextBox 19"/>
          <p:cNvSpPr txBox="1"/>
          <p:nvPr/>
        </p:nvSpPr>
        <p:spPr>
          <a:xfrm>
            <a:off x="787520" y="8628552"/>
            <a:ext cx="3665196" cy="471676"/>
          </a:xfrm>
          <a:prstGeom prst="rect">
            <a:avLst/>
          </a:prstGeom>
        </p:spPr>
        <p:txBody>
          <a:bodyPr lIns="0" tIns="0" rIns="0" bIns="0" rtlCol="0" anchor="t">
            <a:spAutoFit/>
          </a:bodyPr>
          <a:lstStyle/>
          <a:p>
            <a:pPr algn="ctr">
              <a:lnSpc>
                <a:spcPts val="3569"/>
              </a:lnSpc>
            </a:pPr>
            <a:r>
              <a:rPr lang="en-US" sz="3569" b="1">
                <a:solidFill>
                  <a:srgbClr val="FFFFFF"/>
                </a:solidFill>
                <a:latin typeface="Montserrat Bold"/>
                <a:ea typeface="Montserrat Bold"/>
                <a:cs typeface="Montserrat Bold"/>
                <a:sym typeface="Montserrat Bold"/>
              </a:rPr>
              <a:t>$ 109,455</a:t>
            </a:r>
          </a:p>
        </p:txBody>
      </p:sp>
      <p:sp>
        <p:nvSpPr>
          <p:cNvPr id="20" name="Freeform 20"/>
          <p:cNvSpPr/>
          <p:nvPr/>
        </p:nvSpPr>
        <p:spPr>
          <a:xfrm>
            <a:off x="4830509" y="1726709"/>
            <a:ext cx="2043987" cy="2077990"/>
          </a:xfrm>
          <a:custGeom>
            <a:avLst/>
            <a:gdLst/>
            <a:ahLst/>
            <a:cxnLst/>
            <a:rect l="l" t="t" r="r" b="b"/>
            <a:pathLst>
              <a:path w="2043987" h="2077990">
                <a:moveTo>
                  <a:pt x="0" y="0"/>
                </a:moveTo>
                <a:lnTo>
                  <a:pt x="2043987" y="0"/>
                </a:lnTo>
                <a:lnTo>
                  <a:pt x="2043987" y="2077990"/>
                </a:lnTo>
                <a:lnTo>
                  <a:pt x="0" y="207799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aphicFrame>
        <p:nvGraphicFramePr>
          <p:cNvPr id="32" name="Chart 31">
            <a:extLst>
              <a:ext uri="{FF2B5EF4-FFF2-40B4-BE49-F238E27FC236}">
                <a16:creationId xmlns:a16="http://schemas.microsoft.com/office/drawing/2014/main" id="{902E7843-71E6-392C-3BB1-35F043A2A2F1}"/>
              </a:ext>
            </a:extLst>
          </p:cNvPr>
          <p:cNvGraphicFramePr>
            <a:graphicFrameLocks/>
          </p:cNvGraphicFramePr>
          <p:nvPr>
            <p:extLst>
              <p:ext uri="{D42A27DB-BD31-4B8C-83A1-F6EECF244321}">
                <p14:modId xmlns:p14="http://schemas.microsoft.com/office/powerpoint/2010/main" val="3498881294"/>
              </p:ext>
            </p:extLst>
          </p:nvPr>
        </p:nvGraphicFramePr>
        <p:xfrm>
          <a:off x="6888492" y="5414882"/>
          <a:ext cx="9201926" cy="4118427"/>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166678">
                <a:alpha val="100000"/>
              </a:srgbClr>
            </a:gs>
            <a:gs pos="100000">
              <a:srgbClr val="212626">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rot="5400000">
            <a:off x="14923579" y="1561708"/>
            <a:ext cx="7136720" cy="7163583"/>
          </a:xfrm>
          <a:custGeom>
            <a:avLst/>
            <a:gdLst/>
            <a:ahLst/>
            <a:cxnLst/>
            <a:rect l="l" t="t" r="r" b="b"/>
            <a:pathLst>
              <a:path w="7136720" h="7163583">
                <a:moveTo>
                  <a:pt x="0" y="0"/>
                </a:moveTo>
                <a:lnTo>
                  <a:pt x="7136719" y="0"/>
                </a:lnTo>
                <a:lnTo>
                  <a:pt x="7136719" y="7163584"/>
                </a:lnTo>
                <a:lnTo>
                  <a:pt x="0" y="7163584"/>
                </a:lnTo>
                <a:lnTo>
                  <a:pt x="0" y="0"/>
                </a:lnTo>
                <a:close/>
              </a:path>
            </a:pathLst>
          </a:custGeom>
          <a:blipFill>
            <a:blip r:embed="rId2"/>
            <a:stretch>
              <a:fillRect/>
            </a:stretch>
          </a:blipFill>
        </p:spPr>
      </p:sp>
      <p:sp>
        <p:nvSpPr>
          <p:cNvPr id="3" name="TextBox 3"/>
          <p:cNvSpPr txBox="1"/>
          <p:nvPr/>
        </p:nvSpPr>
        <p:spPr>
          <a:xfrm>
            <a:off x="1850740" y="1766384"/>
            <a:ext cx="12923029" cy="1233147"/>
          </a:xfrm>
          <a:prstGeom prst="rect">
            <a:avLst/>
          </a:prstGeom>
        </p:spPr>
        <p:txBody>
          <a:bodyPr lIns="0" tIns="0" rIns="0" bIns="0" rtlCol="0" anchor="t">
            <a:spAutoFit/>
          </a:bodyPr>
          <a:lstStyle/>
          <a:p>
            <a:pPr algn="l">
              <a:lnSpc>
                <a:spcPts val="7674"/>
              </a:lnSpc>
            </a:pPr>
            <a:r>
              <a:rPr lang="en-US" sz="7674" dirty="0">
                <a:solidFill>
                  <a:srgbClr val="FFFFFF"/>
                </a:solidFill>
                <a:latin typeface="Agrandir"/>
                <a:ea typeface="Agrandir"/>
                <a:cs typeface="Agrandir"/>
                <a:sym typeface="Agrandir"/>
              </a:rPr>
              <a:t>AUDIENCE</a:t>
            </a:r>
          </a:p>
        </p:txBody>
      </p:sp>
      <p:sp>
        <p:nvSpPr>
          <p:cNvPr id="4" name="TextBox 4"/>
          <p:cNvSpPr txBox="1"/>
          <p:nvPr/>
        </p:nvSpPr>
        <p:spPr>
          <a:xfrm>
            <a:off x="1850740" y="3420103"/>
            <a:ext cx="13891458" cy="1756891"/>
          </a:xfrm>
          <a:prstGeom prst="rect">
            <a:avLst/>
          </a:prstGeom>
        </p:spPr>
        <p:txBody>
          <a:bodyPr lIns="0" tIns="0" rIns="0" bIns="0" rtlCol="0" anchor="t">
            <a:spAutoFit/>
          </a:bodyPr>
          <a:lstStyle/>
          <a:p>
            <a:pPr marL="639047" lvl="1" indent="-319523" algn="l">
              <a:lnSpc>
                <a:spcPts val="4143"/>
              </a:lnSpc>
              <a:buFont typeface="Arial"/>
              <a:buChar char="•"/>
            </a:pPr>
            <a:r>
              <a:rPr lang="en-US" sz="2959" dirty="0">
                <a:solidFill>
                  <a:srgbClr val="BFBFBF"/>
                </a:solidFill>
                <a:latin typeface="Montserrat"/>
                <a:ea typeface="Montserrat"/>
                <a:cs typeface="Montserrat"/>
                <a:sym typeface="Montserrat"/>
              </a:rPr>
              <a:t>Member and Normal customers are almost evenly split (501 vs. 499)</a:t>
            </a:r>
          </a:p>
          <a:p>
            <a:pPr marL="639047" lvl="1" indent="-319523" algn="l">
              <a:lnSpc>
                <a:spcPts val="3226"/>
              </a:lnSpc>
              <a:buFont typeface="Arial"/>
              <a:buChar char="•"/>
            </a:pPr>
            <a:r>
              <a:rPr lang="en-US" sz="2959" dirty="0">
                <a:solidFill>
                  <a:srgbClr val="BFBFBF"/>
                </a:solidFill>
                <a:latin typeface="Montserrat"/>
                <a:ea typeface="Montserrat"/>
                <a:cs typeface="Montserrat"/>
                <a:sym typeface="Montserrat"/>
              </a:rPr>
              <a:t>So is the gender distribution: Female (501) and Male (499)</a:t>
            </a:r>
          </a:p>
          <a:p>
            <a:pPr marL="639047" lvl="1" indent="-319523" algn="l">
              <a:lnSpc>
                <a:spcPts val="3226"/>
              </a:lnSpc>
              <a:buFont typeface="Arial"/>
              <a:buChar char="•"/>
            </a:pPr>
            <a:r>
              <a:rPr lang="en-US" sz="2959" dirty="0">
                <a:solidFill>
                  <a:srgbClr val="BFBFBF"/>
                </a:solidFill>
                <a:latin typeface="Montserrat"/>
                <a:ea typeface="Montserrat"/>
                <a:cs typeface="Montserrat"/>
                <a:sym typeface="Montserrat"/>
              </a:rPr>
              <a:t>Average spend by genders: Female (355.09) and Male (310.78)</a:t>
            </a:r>
          </a:p>
          <a:p>
            <a:pPr algn="l">
              <a:lnSpc>
                <a:spcPts val="3226"/>
              </a:lnSpc>
            </a:pPr>
            <a:endParaRPr lang="en-US" sz="2959" dirty="0">
              <a:solidFill>
                <a:srgbClr val="BFBFBF"/>
              </a:solidFill>
              <a:latin typeface="Montserrat"/>
              <a:ea typeface="Montserrat"/>
              <a:cs typeface="Montserrat"/>
              <a:sym typeface="Montserrat"/>
            </a:endParaRPr>
          </a:p>
        </p:txBody>
      </p:sp>
      <p:grpSp>
        <p:nvGrpSpPr>
          <p:cNvPr id="5" name="Group 5"/>
          <p:cNvGrpSpPr/>
          <p:nvPr/>
        </p:nvGrpSpPr>
        <p:grpSpPr>
          <a:xfrm>
            <a:off x="1850740" y="5297668"/>
            <a:ext cx="9851670" cy="3520071"/>
            <a:chOff x="0" y="0"/>
            <a:chExt cx="2594679" cy="927097"/>
          </a:xfrm>
        </p:grpSpPr>
        <p:sp>
          <p:nvSpPr>
            <p:cNvPr id="6" name="Freeform 6"/>
            <p:cNvSpPr/>
            <p:nvPr/>
          </p:nvSpPr>
          <p:spPr>
            <a:xfrm>
              <a:off x="0" y="0"/>
              <a:ext cx="2594679" cy="927097"/>
            </a:xfrm>
            <a:custGeom>
              <a:avLst/>
              <a:gdLst/>
              <a:ahLst/>
              <a:cxnLst/>
              <a:rect l="l" t="t" r="r" b="b"/>
              <a:pathLst>
                <a:path w="2594679" h="927097">
                  <a:moveTo>
                    <a:pt x="0" y="0"/>
                  </a:moveTo>
                  <a:lnTo>
                    <a:pt x="2594679" y="0"/>
                  </a:lnTo>
                  <a:lnTo>
                    <a:pt x="2594679" y="927097"/>
                  </a:lnTo>
                  <a:lnTo>
                    <a:pt x="0" y="927097"/>
                  </a:lnTo>
                  <a:close/>
                </a:path>
              </a:pathLst>
            </a:custGeom>
            <a:gradFill rotWithShape="1">
              <a:gsLst>
                <a:gs pos="0">
                  <a:srgbClr val="166678">
                    <a:alpha val="100000"/>
                  </a:srgbClr>
                </a:gs>
                <a:gs pos="100000">
                  <a:srgbClr val="212626">
                    <a:alpha val="100000"/>
                  </a:srgbClr>
                </a:gs>
              </a:gsLst>
              <a:path path="circle">
                <a:fillToRect r="100000" b="100000"/>
              </a:path>
              <a:tileRect l="-100000" t="-100000"/>
            </a:gradFill>
          </p:spPr>
        </p:sp>
        <p:sp>
          <p:nvSpPr>
            <p:cNvPr id="7" name="TextBox 7"/>
            <p:cNvSpPr txBox="1"/>
            <p:nvPr/>
          </p:nvSpPr>
          <p:spPr>
            <a:xfrm>
              <a:off x="0" y="-38100"/>
              <a:ext cx="2594679" cy="965197"/>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1702410" y="5297668"/>
            <a:ext cx="4734849" cy="3520071"/>
            <a:chOff x="0" y="0"/>
            <a:chExt cx="1327263" cy="986739"/>
          </a:xfrm>
        </p:grpSpPr>
        <p:sp>
          <p:nvSpPr>
            <p:cNvPr id="9" name="Freeform 9"/>
            <p:cNvSpPr/>
            <p:nvPr/>
          </p:nvSpPr>
          <p:spPr>
            <a:xfrm>
              <a:off x="0" y="0"/>
              <a:ext cx="1327263" cy="986739"/>
            </a:xfrm>
            <a:custGeom>
              <a:avLst/>
              <a:gdLst/>
              <a:ahLst/>
              <a:cxnLst/>
              <a:rect l="l" t="t" r="r" b="b"/>
              <a:pathLst>
                <a:path w="1327263" h="986739">
                  <a:moveTo>
                    <a:pt x="0" y="0"/>
                  </a:moveTo>
                  <a:lnTo>
                    <a:pt x="1327263" y="0"/>
                  </a:lnTo>
                  <a:lnTo>
                    <a:pt x="1327263" y="986739"/>
                  </a:lnTo>
                  <a:lnTo>
                    <a:pt x="0" y="986739"/>
                  </a:lnTo>
                  <a:close/>
                </a:path>
              </a:pathLst>
            </a:custGeom>
            <a:solidFill>
              <a:srgbClr val="166678"/>
            </a:solidFill>
            <a:ln cap="sq">
              <a:noFill/>
              <a:prstDash val="solid"/>
              <a:miter/>
            </a:ln>
          </p:spPr>
        </p:sp>
        <p:sp>
          <p:nvSpPr>
            <p:cNvPr id="10" name="TextBox 10"/>
            <p:cNvSpPr txBox="1"/>
            <p:nvPr/>
          </p:nvSpPr>
          <p:spPr>
            <a:xfrm>
              <a:off x="0" y="-38100"/>
              <a:ext cx="1327263" cy="1024839"/>
            </a:xfrm>
            <a:prstGeom prst="rect">
              <a:avLst/>
            </a:prstGeom>
          </p:spPr>
          <p:txBody>
            <a:bodyPr lIns="49065" tIns="49065" rIns="49065" bIns="49065" rtlCol="0" anchor="ctr"/>
            <a:lstStyle/>
            <a:p>
              <a:pPr algn="ctr">
                <a:lnSpc>
                  <a:spcPts val="2659"/>
                </a:lnSpc>
                <a:spcBef>
                  <a:spcPct val="0"/>
                </a:spcBef>
              </a:pPr>
              <a:endParaRPr/>
            </a:p>
          </p:txBody>
        </p:sp>
      </p:grpSp>
      <p:sp>
        <p:nvSpPr>
          <p:cNvPr id="11" name="TextBox 11"/>
          <p:cNvSpPr txBox="1"/>
          <p:nvPr/>
        </p:nvSpPr>
        <p:spPr>
          <a:xfrm>
            <a:off x="2398120" y="6104360"/>
            <a:ext cx="2670472" cy="1003300"/>
          </a:xfrm>
          <a:prstGeom prst="rect">
            <a:avLst/>
          </a:prstGeom>
        </p:spPr>
        <p:txBody>
          <a:bodyPr lIns="0" tIns="0" rIns="0" bIns="0" rtlCol="0" anchor="t">
            <a:spAutoFit/>
          </a:bodyPr>
          <a:lstStyle/>
          <a:p>
            <a:pPr algn="l">
              <a:lnSpc>
                <a:spcPts val="3500"/>
              </a:lnSpc>
            </a:pPr>
            <a:r>
              <a:rPr lang="en-US" sz="3500">
                <a:solidFill>
                  <a:srgbClr val="FFFFFF"/>
                </a:solidFill>
                <a:latin typeface="Agrandir"/>
                <a:ea typeface="Agrandir"/>
                <a:cs typeface="Agrandir"/>
                <a:sym typeface="Agrandir"/>
              </a:rPr>
              <a:t>CUSTOMER </a:t>
            </a:r>
          </a:p>
          <a:p>
            <a:pPr algn="l">
              <a:lnSpc>
                <a:spcPts val="3500"/>
              </a:lnSpc>
            </a:pPr>
            <a:r>
              <a:rPr lang="en-US" sz="3500">
                <a:solidFill>
                  <a:srgbClr val="FFFFFF"/>
                </a:solidFill>
                <a:latin typeface="Agrandir"/>
                <a:ea typeface="Agrandir"/>
                <a:cs typeface="Agrandir"/>
                <a:sym typeface="Agrandir"/>
              </a:rPr>
              <a:t>TYPE</a:t>
            </a:r>
          </a:p>
        </p:txBody>
      </p:sp>
      <p:sp>
        <p:nvSpPr>
          <p:cNvPr id="12" name="TextBox 12"/>
          <p:cNvSpPr txBox="1"/>
          <p:nvPr/>
        </p:nvSpPr>
        <p:spPr>
          <a:xfrm>
            <a:off x="7390139" y="6327775"/>
            <a:ext cx="4083806" cy="672286"/>
          </a:xfrm>
          <a:prstGeom prst="rect">
            <a:avLst/>
          </a:prstGeom>
        </p:spPr>
        <p:txBody>
          <a:bodyPr lIns="0" tIns="0" rIns="0" bIns="0" rtlCol="0" anchor="t">
            <a:spAutoFit/>
          </a:bodyPr>
          <a:lstStyle/>
          <a:p>
            <a:pPr marL="527176" lvl="1" indent="-263588" algn="l">
              <a:lnSpc>
                <a:spcPts val="2661"/>
              </a:lnSpc>
              <a:buFont typeface="Arial"/>
              <a:buChar char="•"/>
            </a:pPr>
            <a:r>
              <a:rPr lang="en-US" sz="2441">
                <a:solidFill>
                  <a:srgbClr val="BFBFBF"/>
                </a:solidFill>
                <a:latin typeface="Montserrat"/>
                <a:ea typeface="Montserrat"/>
                <a:cs typeface="Montserrat"/>
                <a:sym typeface="Montserrat"/>
              </a:rPr>
              <a:t>Members: 501</a:t>
            </a:r>
          </a:p>
          <a:p>
            <a:pPr marL="527176" lvl="1" indent="-263588" algn="l">
              <a:lnSpc>
                <a:spcPts val="2661"/>
              </a:lnSpc>
              <a:buFont typeface="Arial"/>
              <a:buChar char="•"/>
            </a:pPr>
            <a:r>
              <a:rPr lang="en-US" sz="2441">
                <a:solidFill>
                  <a:srgbClr val="BFBFBF"/>
                </a:solidFill>
                <a:latin typeface="Montserrat"/>
                <a:ea typeface="Montserrat"/>
                <a:cs typeface="Montserrat"/>
                <a:sym typeface="Montserrat"/>
              </a:rPr>
              <a:t>Normal: 499</a:t>
            </a:r>
          </a:p>
        </p:txBody>
      </p:sp>
      <p:sp>
        <p:nvSpPr>
          <p:cNvPr id="13" name="Freeform 13"/>
          <p:cNvSpPr/>
          <p:nvPr/>
        </p:nvSpPr>
        <p:spPr>
          <a:xfrm>
            <a:off x="5666924" y="7558823"/>
            <a:ext cx="1124883" cy="644251"/>
          </a:xfrm>
          <a:custGeom>
            <a:avLst/>
            <a:gdLst/>
            <a:ahLst/>
            <a:cxnLst/>
            <a:rect l="l" t="t" r="r" b="b"/>
            <a:pathLst>
              <a:path w="1124883" h="644251">
                <a:moveTo>
                  <a:pt x="0" y="0"/>
                </a:moveTo>
                <a:lnTo>
                  <a:pt x="1124883" y="0"/>
                </a:lnTo>
                <a:lnTo>
                  <a:pt x="1124883" y="644251"/>
                </a:lnTo>
                <a:lnTo>
                  <a:pt x="0" y="64425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4" name="Freeform 14"/>
          <p:cNvSpPr/>
          <p:nvPr/>
        </p:nvSpPr>
        <p:spPr>
          <a:xfrm>
            <a:off x="14773769" y="1833059"/>
            <a:ext cx="1936858" cy="1969079"/>
          </a:xfrm>
          <a:custGeom>
            <a:avLst/>
            <a:gdLst/>
            <a:ahLst/>
            <a:cxnLst/>
            <a:rect l="l" t="t" r="r" b="b"/>
            <a:pathLst>
              <a:path w="1936858" h="1969079">
                <a:moveTo>
                  <a:pt x="0" y="0"/>
                </a:moveTo>
                <a:lnTo>
                  <a:pt x="1936858" y="0"/>
                </a:lnTo>
                <a:lnTo>
                  <a:pt x="1936858" y="1969079"/>
                </a:lnTo>
                <a:lnTo>
                  <a:pt x="0" y="196907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5" name="Freeform 15"/>
          <p:cNvSpPr/>
          <p:nvPr/>
        </p:nvSpPr>
        <p:spPr>
          <a:xfrm rot="5400000" flipH="1" flipV="1">
            <a:off x="-1471360" y="4151379"/>
            <a:ext cx="2412684" cy="2421766"/>
          </a:xfrm>
          <a:custGeom>
            <a:avLst/>
            <a:gdLst/>
            <a:ahLst/>
            <a:cxnLst/>
            <a:rect l="l" t="t" r="r" b="b"/>
            <a:pathLst>
              <a:path w="2412684" h="2421766">
                <a:moveTo>
                  <a:pt x="2412684" y="2421766"/>
                </a:moveTo>
                <a:lnTo>
                  <a:pt x="0" y="2421766"/>
                </a:lnTo>
                <a:lnTo>
                  <a:pt x="0" y="0"/>
                </a:lnTo>
                <a:lnTo>
                  <a:pt x="2412684" y="0"/>
                </a:lnTo>
                <a:lnTo>
                  <a:pt x="2412684" y="2421766"/>
                </a:lnTo>
                <a:close/>
              </a:path>
            </a:pathLst>
          </a:custGeom>
          <a:blipFill>
            <a:blip r:embed="rId2">
              <a:alphaModFix amt="50000"/>
            </a:blip>
            <a:stretch>
              <a:fillRect/>
            </a:stretch>
          </a:blipFill>
        </p:spPr>
      </p:sp>
      <p:sp>
        <p:nvSpPr>
          <p:cNvPr id="16" name="TextBox 16"/>
          <p:cNvSpPr txBox="1"/>
          <p:nvPr/>
        </p:nvSpPr>
        <p:spPr>
          <a:xfrm>
            <a:off x="2455942" y="7520723"/>
            <a:ext cx="2612650" cy="565150"/>
          </a:xfrm>
          <a:prstGeom prst="rect">
            <a:avLst/>
          </a:prstGeom>
        </p:spPr>
        <p:txBody>
          <a:bodyPr lIns="0" tIns="0" rIns="0" bIns="0" rtlCol="0" anchor="t">
            <a:spAutoFit/>
          </a:bodyPr>
          <a:lstStyle/>
          <a:p>
            <a:pPr algn="l">
              <a:lnSpc>
                <a:spcPts val="3500"/>
              </a:lnSpc>
            </a:pPr>
            <a:r>
              <a:rPr lang="en-US" sz="3500">
                <a:solidFill>
                  <a:srgbClr val="FFFFFF"/>
                </a:solidFill>
                <a:latin typeface="Agrandir"/>
                <a:ea typeface="Agrandir"/>
                <a:cs typeface="Agrandir"/>
                <a:sym typeface="Agrandir"/>
              </a:rPr>
              <a:t>GENDER</a:t>
            </a:r>
          </a:p>
        </p:txBody>
      </p:sp>
      <p:sp>
        <p:nvSpPr>
          <p:cNvPr id="17" name="TextBox 17"/>
          <p:cNvSpPr txBox="1"/>
          <p:nvPr/>
        </p:nvSpPr>
        <p:spPr>
          <a:xfrm>
            <a:off x="7390139" y="7548635"/>
            <a:ext cx="4083806" cy="672286"/>
          </a:xfrm>
          <a:prstGeom prst="rect">
            <a:avLst/>
          </a:prstGeom>
        </p:spPr>
        <p:txBody>
          <a:bodyPr lIns="0" tIns="0" rIns="0" bIns="0" rtlCol="0" anchor="t">
            <a:spAutoFit/>
          </a:bodyPr>
          <a:lstStyle/>
          <a:p>
            <a:pPr marL="527176" lvl="1" indent="-263588" algn="l">
              <a:lnSpc>
                <a:spcPts val="2661"/>
              </a:lnSpc>
              <a:buFont typeface="Arial"/>
              <a:buChar char="•"/>
            </a:pPr>
            <a:r>
              <a:rPr lang="en-US" sz="2441">
                <a:solidFill>
                  <a:srgbClr val="BFBFBF"/>
                </a:solidFill>
                <a:latin typeface="Montserrat"/>
                <a:ea typeface="Montserrat"/>
                <a:cs typeface="Montserrat"/>
                <a:sym typeface="Montserrat"/>
              </a:rPr>
              <a:t>Female: 501</a:t>
            </a:r>
          </a:p>
          <a:p>
            <a:pPr marL="527176" lvl="1" indent="-263588" algn="l">
              <a:lnSpc>
                <a:spcPts val="2661"/>
              </a:lnSpc>
              <a:buFont typeface="Arial"/>
              <a:buChar char="•"/>
            </a:pPr>
            <a:r>
              <a:rPr lang="en-US" sz="2441">
                <a:solidFill>
                  <a:srgbClr val="BFBFBF"/>
                </a:solidFill>
                <a:latin typeface="Montserrat"/>
                <a:ea typeface="Montserrat"/>
                <a:cs typeface="Montserrat"/>
                <a:sym typeface="Montserrat"/>
              </a:rPr>
              <a:t>Male: 499</a:t>
            </a:r>
          </a:p>
        </p:txBody>
      </p:sp>
      <p:sp>
        <p:nvSpPr>
          <p:cNvPr id="18" name="Freeform 18"/>
          <p:cNvSpPr/>
          <p:nvPr/>
        </p:nvSpPr>
        <p:spPr>
          <a:xfrm>
            <a:off x="5651692" y="6246479"/>
            <a:ext cx="1124883" cy="644251"/>
          </a:xfrm>
          <a:custGeom>
            <a:avLst/>
            <a:gdLst/>
            <a:ahLst/>
            <a:cxnLst/>
            <a:rect l="l" t="t" r="r" b="b"/>
            <a:pathLst>
              <a:path w="1124883" h="644251">
                <a:moveTo>
                  <a:pt x="0" y="0"/>
                </a:moveTo>
                <a:lnTo>
                  <a:pt x="1124883" y="0"/>
                </a:lnTo>
                <a:lnTo>
                  <a:pt x="1124883" y="644251"/>
                </a:lnTo>
                <a:lnTo>
                  <a:pt x="0" y="64425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aphicFrame>
        <p:nvGraphicFramePr>
          <p:cNvPr id="19" name="Chart 18">
            <a:extLst>
              <a:ext uri="{FF2B5EF4-FFF2-40B4-BE49-F238E27FC236}">
                <a16:creationId xmlns:a16="http://schemas.microsoft.com/office/drawing/2014/main" id="{4514AD9F-AB4C-5560-0229-2A5549E5AF63}"/>
              </a:ext>
            </a:extLst>
          </p:cNvPr>
          <p:cNvGraphicFramePr>
            <a:graphicFrameLocks/>
          </p:cNvGraphicFramePr>
          <p:nvPr>
            <p:extLst>
              <p:ext uri="{D42A27DB-BD31-4B8C-83A1-F6EECF244321}">
                <p14:modId xmlns:p14="http://schemas.microsoft.com/office/powerpoint/2010/main" val="1457272353"/>
              </p:ext>
            </p:extLst>
          </p:nvPr>
        </p:nvGraphicFramePr>
        <p:xfrm>
          <a:off x="11930875" y="5777416"/>
          <a:ext cx="4572000" cy="2743200"/>
        </p:xfrm>
        <a:graphic>
          <a:graphicData uri="http://schemas.openxmlformats.org/drawingml/2006/chart">
            <c:chart xmlns:c="http://schemas.openxmlformats.org/drawingml/2006/chart" xmlns:r="http://schemas.openxmlformats.org/officeDocument/2006/relationships" r:id="rId7"/>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166678">
                <a:alpha val="100000"/>
              </a:srgbClr>
            </a:gs>
            <a:gs pos="100000">
              <a:srgbClr val="212626">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extBox 2"/>
          <p:cNvSpPr txBox="1"/>
          <p:nvPr/>
        </p:nvSpPr>
        <p:spPr>
          <a:xfrm>
            <a:off x="3141331" y="1534870"/>
            <a:ext cx="12005339" cy="1378580"/>
          </a:xfrm>
          <a:prstGeom prst="rect">
            <a:avLst/>
          </a:prstGeom>
        </p:spPr>
        <p:txBody>
          <a:bodyPr lIns="0" tIns="0" rIns="0" bIns="0" rtlCol="0" anchor="t">
            <a:spAutoFit/>
          </a:bodyPr>
          <a:lstStyle/>
          <a:p>
            <a:pPr algn="ctr">
              <a:lnSpc>
                <a:spcPts val="8524"/>
              </a:lnSpc>
            </a:pPr>
            <a:r>
              <a:rPr lang="en-US" sz="8524">
                <a:solidFill>
                  <a:srgbClr val="FFFFFF"/>
                </a:solidFill>
                <a:latin typeface="Agrandir"/>
                <a:ea typeface="Agrandir"/>
                <a:cs typeface="Agrandir"/>
                <a:sym typeface="Agrandir"/>
              </a:rPr>
              <a:t>SALES BY BRANCH</a:t>
            </a:r>
          </a:p>
        </p:txBody>
      </p:sp>
      <p:grpSp>
        <p:nvGrpSpPr>
          <p:cNvPr id="3" name="Group 3"/>
          <p:cNvGrpSpPr/>
          <p:nvPr/>
        </p:nvGrpSpPr>
        <p:grpSpPr>
          <a:xfrm>
            <a:off x="-809845" y="4706865"/>
            <a:ext cx="8045669" cy="4080692"/>
            <a:chOff x="0" y="0"/>
            <a:chExt cx="2255345" cy="1143891"/>
          </a:xfrm>
        </p:grpSpPr>
        <p:sp>
          <p:nvSpPr>
            <p:cNvPr id="4" name="Freeform 4"/>
            <p:cNvSpPr/>
            <p:nvPr/>
          </p:nvSpPr>
          <p:spPr>
            <a:xfrm>
              <a:off x="0" y="0"/>
              <a:ext cx="2255345" cy="1143891"/>
            </a:xfrm>
            <a:custGeom>
              <a:avLst/>
              <a:gdLst/>
              <a:ahLst/>
              <a:cxnLst/>
              <a:rect l="l" t="t" r="r" b="b"/>
              <a:pathLst>
                <a:path w="2255345" h="1143891">
                  <a:moveTo>
                    <a:pt x="0" y="0"/>
                  </a:moveTo>
                  <a:lnTo>
                    <a:pt x="2255345" y="0"/>
                  </a:lnTo>
                  <a:lnTo>
                    <a:pt x="2255345" y="1143891"/>
                  </a:lnTo>
                  <a:lnTo>
                    <a:pt x="0" y="1143891"/>
                  </a:lnTo>
                  <a:close/>
                </a:path>
              </a:pathLst>
            </a:custGeom>
            <a:solidFill>
              <a:srgbClr val="166678"/>
            </a:solidFill>
            <a:ln cap="sq">
              <a:noFill/>
              <a:prstDash val="solid"/>
              <a:miter/>
            </a:ln>
          </p:spPr>
        </p:sp>
        <p:sp>
          <p:nvSpPr>
            <p:cNvPr id="5" name="TextBox 5"/>
            <p:cNvSpPr txBox="1"/>
            <p:nvPr/>
          </p:nvSpPr>
          <p:spPr>
            <a:xfrm>
              <a:off x="0" y="-38100"/>
              <a:ext cx="2255345" cy="1181991"/>
            </a:xfrm>
            <a:prstGeom prst="rect">
              <a:avLst/>
            </a:prstGeom>
          </p:spPr>
          <p:txBody>
            <a:bodyPr lIns="49065" tIns="49065" rIns="49065" bIns="49065" rtlCol="0" anchor="ctr"/>
            <a:lstStyle/>
            <a:p>
              <a:pPr algn="ctr">
                <a:lnSpc>
                  <a:spcPts val="2659"/>
                </a:lnSpc>
                <a:spcBef>
                  <a:spcPct val="0"/>
                </a:spcBef>
              </a:pPr>
              <a:endParaRPr/>
            </a:p>
          </p:txBody>
        </p:sp>
      </p:grpSp>
      <p:grpSp>
        <p:nvGrpSpPr>
          <p:cNvPr id="6" name="Group 6"/>
          <p:cNvGrpSpPr/>
          <p:nvPr/>
        </p:nvGrpSpPr>
        <p:grpSpPr>
          <a:xfrm>
            <a:off x="12537093" y="4706865"/>
            <a:ext cx="7784452" cy="4080692"/>
            <a:chOff x="0" y="0"/>
            <a:chExt cx="2182121" cy="1143891"/>
          </a:xfrm>
        </p:grpSpPr>
        <p:sp>
          <p:nvSpPr>
            <p:cNvPr id="7" name="Freeform 7"/>
            <p:cNvSpPr/>
            <p:nvPr/>
          </p:nvSpPr>
          <p:spPr>
            <a:xfrm>
              <a:off x="0" y="0"/>
              <a:ext cx="2182121" cy="1143891"/>
            </a:xfrm>
            <a:custGeom>
              <a:avLst/>
              <a:gdLst/>
              <a:ahLst/>
              <a:cxnLst/>
              <a:rect l="l" t="t" r="r" b="b"/>
              <a:pathLst>
                <a:path w="2182121" h="1143891">
                  <a:moveTo>
                    <a:pt x="0" y="0"/>
                  </a:moveTo>
                  <a:lnTo>
                    <a:pt x="2182121" y="0"/>
                  </a:lnTo>
                  <a:lnTo>
                    <a:pt x="2182121" y="1143891"/>
                  </a:lnTo>
                  <a:lnTo>
                    <a:pt x="0" y="1143891"/>
                  </a:lnTo>
                  <a:close/>
                </a:path>
              </a:pathLst>
            </a:custGeom>
            <a:solidFill>
              <a:srgbClr val="166678"/>
            </a:solidFill>
            <a:ln cap="sq">
              <a:noFill/>
              <a:prstDash val="solid"/>
              <a:miter/>
            </a:ln>
          </p:spPr>
        </p:sp>
        <p:sp>
          <p:nvSpPr>
            <p:cNvPr id="8" name="TextBox 8"/>
            <p:cNvSpPr txBox="1"/>
            <p:nvPr/>
          </p:nvSpPr>
          <p:spPr>
            <a:xfrm>
              <a:off x="0" y="-38100"/>
              <a:ext cx="2182121" cy="1181991"/>
            </a:xfrm>
            <a:prstGeom prst="rect">
              <a:avLst/>
            </a:prstGeom>
          </p:spPr>
          <p:txBody>
            <a:bodyPr lIns="49065" tIns="49065" rIns="49065" bIns="49065" rtlCol="0" anchor="ctr"/>
            <a:lstStyle/>
            <a:p>
              <a:pPr algn="ctr">
                <a:lnSpc>
                  <a:spcPts val="2659"/>
                </a:lnSpc>
                <a:spcBef>
                  <a:spcPct val="0"/>
                </a:spcBef>
              </a:pPr>
              <a:endParaRPr/>
            </a:p>
          </p:txBody>
        </p:sp>
      </p:grpSp>
      <p:grpSp>
        <p:nvGrpSpPr>
          <p:cNvPr id="9" name="Group 9"/>
          <p:cNvGrpSpPr/>
          <p:nvPr/>
        </p:nvGrpSpPr>
        <p:grpSpPr>
          <a:xfrm>
            <a:off x="6060963" y="4706865"/>
            <a:ext cx="6476130" cy="4080692"/>
            <a:chOff x="0" y="0"/>
            <a:chExt cx="1705647" cy="1074750"/>
          </a:xfrm>
        </p:grpSpPr>
        <p:sp>
          <p:nvSpPr>
            <p:cNvPr id="10" name="Freeform 10"/>
            <p:cNvSpPr/>
            <p:nvPr/>
          </p:nvSpPr>
          <p:spPr>
            <a:xfrm>
              <a:off x="0" y="0"/>
              <a:ext cx="1705647" cy="1074750"/>
            </a:xfrm>
            <a:custGeom>
              <a:avLst/>
              <a:gdLst/>
              <a:ahLst/>
              <a:cxnLst/>
              <a:rect l="l" t="t" r="r" b="b"/>
              <a:pathLst>
                <a:path w="1705647" h="1074750">
                  <a:moveTo>
                    <a:pt x="0" y="0"/>
                  </a:moveTo>
                  <a:lnTo>
                    <a:pt x="1705647" y="0"/>
                  </a:lnTo>
                  <a:lnTo>
                    <a:pt x="1705647" y="1074750"/>
                  </a:lnTo>
                  <a:lnTo>
                    <a:pt x="0" y="1074750"/>
                  </a:lnTo>
                  <a:close/>
                </a:path>
              </a:pathLst>
            </a:custGeom>
            <a:gradFill rotWithShape="1">
              <a:gsLst>
                <a:gs pos="0">
                  <a:srgbClr val="166678">
                    <a:alpha val="100000"/>
                  </a:srgbClr>
                </a:gs>
                <a:gs pos="100000">
                  <a:srgbClr val="212626">
                    <a:alpha val="100000"/>
                  </a:srgbClr>
                </a:gs>
              </a:gsLst>
              <a:path path="circle">
                <a:fillToRect r="100000" b="100000"/>
              </a:path>
              <a:tileRect l="-100000" t="-100000"/>
            </a:gradFill>
          </p:spPr>
        </p:sp>
        <p:sp>
          <p:nvSpPr>
            <p:cNvPr id="11" name="TextBox 11"/>
            <p:cNvSpPr txBox="1"/>
            <p:nvPr/>
          </p:nvSpPr>
          <p:spPr>
            <a:xfrm>
              <a:off x="0" y="-38100"/>
              <a:ext cx="1705647" cy="1112850"/>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1456351" y="6052259"/>
            <a:ext cx="3233261" cy="569558"/>
          </a:xfrm>
          <a:prstGeom prst="rect">
            <a:avLst/>
          </a:prstGeom>
        </p:spPr>
        <p:txBody>
          <a:bodyPr lIns="0" tIns="0" rIns="0" bIns="0" rtlCol="0" anchor="t">
            <a:spAutoFit/>
          </a:bodyPr>
          <a:lstStyle/>
          <a:p>
            <a:pPr algn="ctr">
              <a:lnSpc>
                <a:spcPts val="4345"/>
              </a:lnSpc>
            </a:pPr>
            <a:r>
              <a:rPr lang="en-US" sz="4345" b="1">
                <a:solidFill>
                  <a:srgbClr val="FFFFFF"/>
                </a:solidFill>
                <a:latin typeface="Montserrat Bold"/>
                <a:ea typeface="Montserrat Bold"/>
                <a:cs typeface="Montserrat Bold"/>
                <a:sym typeface="Montserrat Bold"/>
              </a:rPr>
              <a:t>Branch A</a:t>
            </a:r>
          </a:p>
        </p:txBody>
      </p:sp>
      <p:sp>
        <p:nvSpPr>
          <p:cNvPr id="13" name="TextBox 13"/>
          <p:cNvSpPr txBox="1"/>
          <p:nvPr/>
        </p:nvSpPr>
        <p:spPr>
          <a:xfrm>
            <a:off x="1180183" y="7008567"/>
            <a:ext cx="4065611" cy="414253"/>
          </a:xfrm>
          <a:prstGeom prst="rect">
            <a:avLst/>
          </a:prstGeom>
        </p:spPr>
        <p:txBody>
          <a:bodyPr lIns="0" tIns="0" rIns="0" bIns="0" rtlCol="0" anchor="t">
            <a:spAutoFit/>
          </a:bodyPr>
          <a:lstStyle/>
          <a:p>
            <a:pPr algn="ctr">
              <a:lnSpc>
                <a:spcPts val="3193"/>
              </a:lnSpc>
            </a:pPr>
            <a:r>
              <a:rPr lang="en-US" sz="3193">
                <a:solidFill>
                  <a:srgbClr val="C3C3C3"/>
                </a:solidFill>
                <a:latin typeface="Montserrat"/>
                <a:ea typeface="Montserrat"/>
                <a:cs typeface="Montserrat"/>
                <a:sym typeface="Montserrat"/>
              </a:rPr>
              <a:t>$106,200</a:t>
            </a:r>
          </a:p>
        </p:txBody>
      </p:sp>
      <p:sp>
        <p:nvSpPr>
          <p:cNvPr id="14" name="TextBox 14"/>
          <p:cNvSpPr txBox="1"/>
          <p:nvPr/>
        </p:nvSpPr>
        <p:spPr>
          <a:xfrm>
            <a:off x="7684689" y="6004955"/>
            <a:ext cx="3233261" cy="569558"/>
          </a:xfrm>
          <a:prstGeom prst="rect">
            <a:avLst/>
          </a:prstGeom>
        </p:spPr>
        <p:txBody>
          <a:bodyPr lIns="0" tIns="0" rIns="0" bIns="0" rtlCol="0" anchor="t">
            <a:spAutoFit/>
          </a:bodyPr>
          <a:lstStyle/>
          <a:p>
            <a:pPr algn="ctr">
              <a:lnSpc>
                <a:spcPts val="4345"/>
              </a:lnSpc>
            </a:pPr>
            <a:r>
              <a:rPr lang="en-US" sz="4345" b="1">
                <a:solidFill>
                  <a:srgbClr val="FFFFFF"/>
                </a:solidFill>
                <a:latin typeface="Montserrat Bold"/>
                <a:ea typeface="Montserrat Bold"/>
                <a:cs typeface="Montserrat Bold"/>
                <a:sym typeface="Montserrat Bold"/>
              </a:rPr>
              <a:t>Branch B</a:t>
            </a:r>
          </a:p>
        </p:txBody>
      </p:sp>
      <p:sp>
        <p:nvSpPr>
          <p:cNvPr id="15" name="TextBox 15"/>
          <p:cNvSpPr txBox="1"/>
          <p:nvPr/>
        </p:nvSpPr>
        <p:spPr>
          <a:xfrm>
            <a:off x="6880409" y="6961263"/>
            <a:ext cx="4803721" cy="414253"/>
          </a:xfrm>
          <a:prstGeom prst="rect">
            <a:avLst/>
          </a:prstGeom>
        </p:spPr>
        <p:txBody>
          <a:bodyPr lIns="0" tIns="0" rIns="0" bIns="0" rtlCol="0" anchor="t">
            <a:spAutoFit/>
          </a:bodyPr>
          <a:lstStyle/>
          <a:p>
            <a:pPr algn="ctr">
              <a:lnSpc>
                <a:spcPts val="3193"/>
              </a:lnSpc>
            </a:pPr>
            <a:r>
              <a:rPr lang="en-US" sz="3193">
                <a:solidFill>
                  <a:srgbClr val="C3C3C3"/>
                </a:solidFill>
                <a:latin typeface="Montserrat"/>
                <a:ea typeface="Montserrat"/>
                <a:cs typeface="Montserrat"/>
                <a:sym typeface="Montserrat"/>
              </a:rPr>
              <a:t>$106,198</a:t>
            </a:r>
          </a:p>
        </p:txBody>
      </p:sp>
      <p:sp>
        <p:nvSpPr>
          <p:cNvPr id="16" name="TextBox 16"/>
          <p:cNvSpPr txBox="1"/>
          <p:nvPr/>
        </p:nvSpPr>
        <p:spPr>
          <a:xfrm>
            <a:off x="13940027" y="6004955"/>
            <a:ext cx="3233261" cy="569558"/>
          </a:xfrm>
          <a:prstGeom prst="rect">
            <a:avLst/>
          </a:prstGeom>
        </p:spPr>
        <p:txBody>
          <a:bodyPr lIns="0" tIns="0" rIns="0" bIns="0" rtlCol="0" anchor="t">
            <a:spAutoFit/>
          </a:bodyPr>
          <a:lstStyle/>
          <a:p>
            <a:pPr algn="ctr">
              <a:lnSpc>
                <a:spcPts val="4345"/>
              </a:lnSpc>
            </a:pPr>
            <a:r>
              <a:rPr lang="en-US" sz="4345" b="1">
                <a:solidFill>
                  <a:srgbClr val="FFFFFF"/>
                </a:solidFill>
                <a:latin typeface="Montserrat Bold"/>
                <a:ea typeface="Montserrat Bold"/>
                <a:cs typeface="Montserrat Bold"/>
                <a:sym typeface="Montserrat Bold"/>
              </a:rPr>
              <a:t>Branch C</a:t>
            </a:r>
          </a:p>
        </p:txBody>
      </p:sp>
      <p:sp>
        <p:nvSpPr>
          <p:cNvPr id="17" name="TextBox 17"/>
          <p:cNvSpPr txBox="1"/>
          <p:nvPr/>
        </p:nvSpPr>
        <p:spPr>
          <a:xfrm>
            <a:off x="13154797" y="6961263"/>
            <a:ext cx="4803721" cy="414253"/>
          </a:xfrm>
          <a:prstGeom prst="rect">
            <a:avLst/>
          </a:prstGeom>
        </p:spPr>
        <p:txBody>
          <a:bodyPr lIns="0" tIns="0" rIns="0" bIns="0" rtlCol="0" anchor="t">
            <a:spAutoFit/>
          </a:bodyPr>
          <a:lstStyle/>
          <a:p>
            <a:pPr algn="ctr">
              <a:lnSpc>
                <a:spcPts val="3193"/>
              </a:lnSpc>
            </a:pPr>
            <a:r>
              <a:rPr lang="en-US" sz="3193">
                <a:solidFill>
                  <a:srgbClr val="C3C3C3"/>
                </a:solidFill>
                <a:latin typeface="Montserrat"/>
                <a:ea typeface="Montserrat"/>
                <a:cs typeface="Montserrat"/>
                <a:sym typeface="Montserrat"/>
              </a:rPr>
              <a:t>$110,568</a:t>
            </a:r>
          </a:p>
        </p:txBody>
      </p:sp>
      <p:sp>
        <p:nvSpPr>
          <p:cNvPr id="18" name="AutoShape 18"/>
          <p:cNvSpPr/>
          <p:nvPr/>
        </p:nvSpPr>
        <p:spPr>
          <a:xfrm>
            <a:off x="2702768" y="9397157"/>
            <a:ext cx="12882465" cy="0"/>
          </a:xfrm>
          <a:prstGeom prst="line">
            <a:avLst/>
          </a:prstGeom>
          <a:ln w="19050" cap="flat">
            <a:solidFill>
              <a:srgbClr val="737373"/>
            </a:solidFill>
            <a:prstDash val="solid"/>
            <a:headEnd type="none" w="sm" len="sm"/>
            <a:tailEnd type="none" w="sm" len="sm"/>
          </a:ln>
        </p:spPr>
      </p:sp>
      <p:sp>
        <p:nvSpPr>
          <p:cNvPr id="19" name="Freeform 19"/>
          <p:cNvSpPr/>
          <p:nvPr/>
        </p:nvSpPr>
        <p:spPr>
          <a:xfrm rot="5400000">
            <a:off x="16019634" y="-1811052"/>
            <a:ext cx="5169279" cy="5188737"/>
          </a:xfrm>
          <a:custGeom>
            <a:avLst/>
            <a:gdLst/>
            <a:ahLst/>
            <a:cxnLst/>
            <a:rect l="l" t="t" r="r" b="b"/>
            <a:pathLst>
              <a:path w="5169279" h="5188737">
                <a:moveTo>
                  <a:pt x="0" y="0"/>
                </a:moveTo>
                <a:lnTo>
                  <a:pt x="5169279" y="0"/>
                </a:lnTo>
                <a:lnTo>
                  <a:pt x="5169279" y="5188737"/>
                </a:lnTo>
                <a:lnTo>
                  <a:pt x="0" y="5188737"/>
                </a:lnTo>
                <a:lnTo>
                  <a:pt x="0" y="0"/>
                </a:lnTo>
                <a:close/>
              </a:path>
            </a:pathLst>
          </a:custGeom>
          <a:blipFill>
            <a:blip r:embed="rId2">
              <a:alphaModFix amt="49000"/>
            </a:blip>
            <a:stretch>
              <a:fillRect/>
            </a:stretch>
          </a:blipFill>
        </p:spPr>
      </p:sp>
      <p:sp>
        <p:nvSpPr>
          <p:cNvPr id="20" name="Freeform 20"/>
          <p:cNvSpPr/>
          <p:nvPr/>
        </p:nvSpPr>
        <p:spPr>
          <a:xfrm rot="5400000" flipV="1">
            <a:off x="-2952078" y="-1218697"/>
            <a:ext cx="5169279" cy="5188737"/>
          </a:xfrm>
          <a:custGeom>
            <a:avLst/>
            <a:gdLst/>
            <a:ahLst/>
            <a:cxnLst/>
            <a:rect l="l" t="t" r="r" b="b"/>
            <a:pathLst>
              <a:path w="5169279" h="5188737">
                <a:moveTo>
                  <a:pt x="0" y="5188737"/>
                </a:moveTo>
                <a:lnTo>
                  <a:pt x="5169280" y="5188737"/>
                </a:lnTo>
                <a:lnTo>
                  <a:pt x="5169280" y="0"/>
                </a:lnTo>
                <a:lnTo>
                  <a:pt x="0" y="0"/>
                </a:lnTo>
                <a:lnTo>
                  <a:pt x="0" y="5188737"/>
                </a:lnTo>
                <a:close/>
              </a:path>
            </a:pathLst>
          </a:custGeom>
          <a:blipFill>
            <a:blip r:embed="rId2">
              <a:alphaModFix amt="49000"/>
            </a:blip>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166678">
                <a:alpha val="100000"/>
              </a:srgbClr>
            </a:gs>
            <a:gs pos="100000">
              <a:srgbClr val="212626">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extBox 2"/>
          <p:cNvSpPr txBox="1"/>
          <p:nvPr/>
        </p:nvSpPr>
        <p:spPr>
          <a:xfrm>
            <a:off x="1637205" y="1614326"/>
            <a:ext cx="11438414" cy="1314868"/>
          </a:xfrm>
          <a:prstGeom prst="rect">
            <a:avLst/>
          </a:prstGeom>
        </p:spPr>
        <p:txBody>
          <a:bodyPr lIns="0" tIns="0" rIns="0" bIns="0" rtlCol="0" anchor="t">
            <a:spAutoFit/>
          </a:bodyPr>
          <a:lstStyle/>
          <a:p>
            <a:pPr algn="l">
              <a:lnSpc>
                <a:spcPts val="8167"/>
              </a:lnSpc>
            </a:pPr>
            <a:r>
              <a:rPr lang="en-US" sz="8167">
                <a:solidFill>
                  <a:srgbClr val="FFFFFF"/>
                </a:solidFill>
                <a:latin typeface="Agrandir"/>
                <a:ea typeface="Agrandir"/>
                <a:cs typeface="Agrandir"/>
                <a:sym typeface="Agrandir"/>
              </a:rPr>
              <a:t>PAYMENT METHODS</a:t>
            </a:r>
          </a:p>
        </p:txBody>
      </p:sp>
      <p:sp>
        <p:nvSpPr>
          <p:cNvPr id="3" name="TextBox 3"/>
          <p:cNvSpPr txBox="1"/>
          <p:nvPr/>
        </p:nvSpPr>
        <p:spPr>
          <a:xfrm>
            <a:off x="1637205" y="3474355"/>
            <a:ext cx="11780427" cy="1011402"/>
          </a:xfrm>
          <a:prstGeom prst="rect">
            <a:avLst/>
          </a:prstGeom>
        </p:spPr>
        <p:txBody>
          <a:bodyPr lIns="0" tIns="0" rIns="0" bIns="0" rtlCol="0" anchor="t">
            <a:spAutoFit/>
          </a:bodyPr>
          <a:lstStyle/>
          <a:p>
            <a:pPr algn="l">
              <a:lnSpc>
                <a:spcPts val="4103"/>
              </a:lnSpc>
            </a:pPr>
            <a:r>
              <a:rPr lang="en-US" sz="2931">
                <a:solidFill>
                  <a:srgbClr val="FFFFFF"/>
                </a:solidFill>
                <a:latin typeface="Montserrat"/>
                <a:ea typeface="Montserrat"/>
                <a:cs typeface="Montserrat"/>
                <a:sym typeface="Montserrat"/>
              </a:rPr>
              <a:t>Most customers used Ewallet (345 transactions), followed by Cash (344) and Credit card (311)</a:t>
            </a:r>
          </a:p>
        </p:txBody>
      </p:sp>
      <p:grpSp>
        <p:nvGrpSpPr>
          <p:cNvPr id="4" name="Group 4"/>
          <p:cNvGrpSpPr/>
          <p:nvPr/>
        </p:nvGrpSpPr>
        <p:grpSpPr>
          <a:xfrm>
            <a:off x="12979133" y="5186667"/>
            <a:ext cx="3671663" cy="3409808"/>
            <a:chOff x="0" y="0"/>
            <a:chExt cx="1029233" cy="955830"/>
          </a:xfrm>
        </p:grpSpPr>
        <p:sp>
          <p:nvSpPr>
            <p:cNvPr id="5" name="Freeform 5"/>
            <p:cNvSpPr/>
            <p:nvPr/>
          </p:nvSpPr>
          <p:spPr>
            <a:xfrm>
              <a:off x="0" y="0"/>
              <a:ext cx="1029233" cy="955830"/>
            </a:xfrm>
            <a:custGeom>
              <a:avLst/>
              <a:gdLst/>
              <a:ahLst/>
              <a:cxnLst/>
              <a:rect l="l" t="t" r="r" b="b"/>
              <a:pathLst>
                <a:path w="1029233" h="955830">
                  <a:moveTo>
                    <a:pt x="107537" y="0"/>
                  </a:moveTo>
                  <a:lnTo>
                    <a:pt x="921696" y="0"/>
                  </a:lnTo>
                  <a:cubicBezTo>
                    <a:pt x="950217" y="0"/>
                    <a:pt x="977569" y="11330"/>
                    <a:pt x="997736" y="31497"/>
                  </a:cubicBezTo>
                  <a:cubicBezTo>
                    <a:pt x="1017903" y="51664"/>
                    <a:pt x="1029233" y="79016"/>
                    <a:pt x="1029233" y="107537"/>
                  </a:cubicBezTo>
                  <a:lnTo>
                    <a:pt x="1029233" y="848294"/>
                  </a:lnTo>
                  <a:cubicBezTo>
                    <a:pt x="1029233" y="876814"/>
                    <a:pt x="1017903" y="904167"/>
                    <a:pt x="997736" y="924334"/>
                  </a:cubicBezTo>
                  <a:cubicBezTo>
                    <a:pt x="977569" y="944500"/>
                    <a:pt x="950217" y="955830"/>
                    <a:pt x="921696" y="955830"/>
                  </a:cubicBezTo>
                  <a:lnTo>
                    <a:pt x="107537" y="955830"/>
                  </a:lnTo>
                  <a:cubicBezTo>
                    <a:pt x="79016" y="955830"/>
                    <a:pt x="51664" y="944500"/>
                    <a:pt x="31497" y="924334"/>
                  </a:cubicBezTo>
                  <a:cubicBezTo>
                    <a:pt x="11330" y="904167"/>
                    <a:pt x="0" y="876814"/>
                    <a:pt x="0" y="848294"/>
                  </a:cubicBezTo>
                  <a:lnTo>
                    <a:pt x="0" y="107537"/>
                  </a:lnTo>
                  <a:cubicBezTo>
                    <a:pt x="0" y="79016"/>
                    <a:pt x="11330" y="51664"/>
                    <a:pt x="31497" y="31497"/>
                  </a:cubicBezTo>
                  <a:cubicBezTo>
                    <a:pt x="51664" y="11330"/>
                    <a:pt x="79016" y="0"/>
                    <a:pt x="107537" y="0"/>
                  </a:cubicBezTo>
                  <a:close/>
                </a:path>
              </a:pathLst>
            </a:custGeom>
            <a:solidFill>
              <a:srgbClr val="166678"/>
            </a:solidFill>
            <a:ln w="9525" cap="rnd">
              <a:solidFill>
                <a:srgbClr val="FFFFFF"/>
              </a:solidFill>
              <a:prstDash val="solid"/>
              <a:round/>
            </a:ln>
          </p:spPr>
        </p:sp>
        <p:sp>
          <p:nvSpPr>
            <p:cNvPr id="6" name="TextBox 6"/>
            <p:cNvSpPr txBox="1"/>
            <p:nvPr/>
          </p:nvSpPr>
          <p:spPr>
            <a:xfrm>
              <a:off x="0" y="-38100"/>
              <a:ext cx="1029233" cy="993930"/>
            </a:xfrm>
            <a:prstGeom prst="rect">
              <a:avLst/>
            </a:prstGeom>
          </p:spPr>
          <p:txBody>
            <a:bodyPr lIns="49065" tIns="49065" rIns="49065" bIns="49065" rtlCol="0" anchor="ctr"/>
            <a:lstStyle/>
            <a:p>
              <a:pPr algn="ctr">
                <a:lnSpc>
                  <a:spcPts val="2659"/>
                </a:lnSpc>
                <a:spcBef>
                  <a:spcPct val="0"/>
                </a:spcBef>
              </a:pPr>
              <a:endParaRPr/>
            </a:p>
          </p:txBody>
        </p:sp>
      </p:grpSp>
      <p:grpSp>
        <p:nvGrpSpPr>
          <p:cNvPr id="7" name="Group 7"/>
          <p:cNvGrpSpPr/>
          <p:nvPr/>
        </p:nvGrpSpPr>
        <p:grpSpPr>
          <a:xfrm>
            <a:off x="5090535" y="5186667"/>
            <a:ext cx="3671663" cy="3409808"/>
            <a:chOff x="0" y="0"/>
            <a:chExt cx="1029233" cy="955830"/>
          </a:xfrm>
        </p:grpSpPr>
        <p:sp>
          <p:nvSpPr>
            <p:cNvPr id="8" name="Freeform 8"/>
            <p:cNvSpPr/>
            <p:nvPr/>
          </p:nvSpPr>
          <p:spPr>
            <a:xfrm>
              <a:off x="0" y="0"/>
              <a:ext cx="1029233" cy="955830"/>
            </a:xfrm>
            <a:custGeom>
              <a:avLst/>
              <a:gdLst/>
              <a:ahLst/>
              <a:cxnLst/>
              <a:rect l="l" t="t" r="r" b="b"/>
              <a:pathLst>
                <a:path w="1029233" h="955830">
                  <a:moveTo>
                    <a:pt x="107537" y="0"/>
                  </a:moveTo>
                  <a:lnTo>
                    <a:pt x="921696" y="0"/>
                  </a:lnTo>
                  <a:cubicBezTo>
                    <a:pt x="950217" y="0"/>
                    <a:pt x="977569" y="11330"/>
                    <a:pt x="997736" y="31497"/>
                  </a:cubicBezTo>
                  <a:cubicBezTo>
                    <a:pt x="1017903" y="51664"/>
                    <a:pt x="1029233" y="79016"/>
                    <a:pt x="1029233" y="107537"/>
                  </a:cubicBezTo>
                  <a:lnTo>
                    <a:pt x="1029233" y="848294"/>
                  </a:lnTo>
                  <a:cubicBezTo>
                    <a:pt x="1029233" y="876814"/>
                    <a:pt x="1017903" y="904167"/>
                    <a:pt x="997736" y="924334"/>
                  </a:cubicBezTo>
                  <a:cubicBezTo>
                    <a:pt x="977569" y="944500"/>
                    <a:pt x="950217" y="955830"/>
                    <a:pt x="921696" y="955830"/>
                  </a:cubicBezTo>
                  <a:lnTo>
                    <a:pt x="107537" y="955830"/>
                  </a:lnTo>
                  <a:cubicBezTo>
                    <a:pt x="79016" y="955830"/>
                    <a:pt x="51664" y="944500"/>
                    <a:pt x="31497" y="924334"/>
                  </a:cubicBezTo>
                  <a:cubicBezTo>
                    <a:pt x="11330" y="904167"/>
                    <a:pt x="0" y="876814"/>
                    <a:pt x="0" y="848294"/>
                  </a:cubicBezTo>
                  <a:lnTo>
                    <a:pt x="0" y="107537"/>
                  </a:lnTo>
                  <a:cubicBezTo>
                    <a:pt x="0" y="79016"/>
                    <a:pt x="11330" y="51664"/>
                    <a:pt x="31497" y="31497"/>
                  </a:cubicBezTo>
                  <a:cubicBezTo>
                    <a:pt x="51664" y="11330"/>
                    <a:pt x="79016" y="0"/>
                    <a:pt x="107537" y="0"/>
                  </a:cubicBezTo>
                  <a:close/>
                </a:path>
              </a:pathLst>
            </a:custGeom>
            <a:solidFill>
              <a:srgbClr val="166678"/>
            </a:solidFill>
            <a:ln w="9525" cap="rnd">
              <a:solidFill>
                <a:srgbClr val="FFFFFF"/>
              </a:solidFill>
              <a:prstDash val="solid"/>
              <a:round/>
            </a:ln>
          </p:spPr>
        </p:sp>
        <p:sp>
          <p:nvSpPr>
            <p:cNvPr id="9" name="TextBox 9"/>
            <p:cNvSpPr txBox="1"/>
            <p:nvPr/>
          </p:nvSpPr>
          <p:spPr>
            <a:xfrm>
              <a:off x="0" y="-38100"/>
              <a:ext cx="1029233" cy="993930"/>
            </a:xfrm>
            <a:prstGeom prst="rect">
              <a:avLst/>
            </a:prstGeom>
          </p:spPr>
          <p:txBody>
            <a:bodyPr lIns="49065" tIns="49065" rIns="49065" bIns="49065" rtlCol="0" anchor="ctr"/>
            <a:lstStyle/>
            <a:p>
              <a:pPr algn="ctr">
                <a:lnSpc>
                  <a:spcPts val="2659"/>
                </a:lnSpc>
                <a:spcBef>
                  <a:spcPct val="0"/>
                </a:spcBef>
              </a:pPr>
              <a:endParaRPr/>
            </a:p>
          </p:txBody>
        </p:sp>
      </p:grpSp>
      <p:grpSp>
        <p:nvGrpSpPr>
          <p:cNvPr id="10" name="Group 10"/>
          <p:cNvGrpSpPr/>
          <p:nvPr/>
        </p:nvGrpSpPr>
        <p:grpSpPr>
          <a:xfrm>
            <a:off x="9034834" y="5186667"/>
            <a:ext cx="3671663" cy="3409808"/>
            <a:chOff x="0" y="0"/>
            <a:chExt cx="1029233" cy="955830"/>
          </a:xfrm>
        </p:grpSpPr>
        <p:sp>
          <p:nvSpPr>
            <p:cNvPr id="11" name="Freeform 11"/>
            <p:cNvSpPr/>
            <p:nvPr/>
          </p:nvSpPr>
          <p:spPr>
            <a:xfrm>
              <a:off x="0" y="0"/>
              <a:ext cx="1029233" cy="955830"/>
            </a:xfrm>
            <a:custGeom>
              <a:avLst/>
              <a:gdLst/>
              <a:ahLst/>
              <a:cxnLst/>
              <a:rect l="l" t="t" r="r" b="b"/>
              <a:pathLst>
                <a:path w="1029233" h="955830">
                  <a:moveTo>
                    <a:pt x="107537" y="0"/>
                  </a:moveTo>
                  <a:lnTo>
                    <a:pt x="921696" y="0"/>
                  </a:lnTo>
                  <a:cubicBezTo>
                    <a:pt x="950217" y="0"/>
                    <a:pt x="977569" y="11330"/>
                    <a:pt x="997736" y="31497"/>
                  </a:cubicBezTo>
                  <a:cubicBezTo>
                    <a:pt x="1017903" y="51664"/>
                    <a:pt x="1029233" y="79016"/>
                    <a:pt x="1029233" y="107537"/>
                  </a:cubicBezTo>
                  <a:lnTo>
                    <a:pt x="1029233" y="848294"/>
                  </a:lnTo>
                  <a:cubicBezTo>
                    <a:pt x="1029233" y="876814"/>
                    <a:pt x="1017903" y="904167"/>
                    <a:pt x="997736" y="924334"/>
                  </a:cubicBezTo>
                  <a:cubicBezTo>
                    <a:pt x="977569" y="944500"/>
                    <a:pt x="950217" y="955830"/>
                    <a:pt x="921696" y="955830"/>
                  </a:cubicBezTo>
                  <a:lnTo>
                    <a:pt x="107537" y="955830"/>
                  </a:lnTo>
                  <a:cubicBezTo>
                    <a:pt x="79016" y="955830"/>
                    <a:pt x="51664" y="944500"/>
                    <a:pt x="31497" y="924334"/>
                  </a:cubicBezTo>
                  <a:cubicBezTo>
                    <a:pt x="11330" y="904167"/>
                    <a:pt x="0" y="876814"/>
                    <a:pt x="0" y="848294"/>
                  </a:cubicBezTo>
                  <a:lnTo>
                    <a:pt x="0" y="107537"/>
                  </a:lnTo>
                  <a:cubicBezTo>
                    <a:pt x="0" y="79016"/>
                    <a:pt x="11330" y="51664"/>
                    <a:pt x="31497" y="31497"/>
                  </a:cubicBezTo>
                  <a:cubicBezTo>
                    <a:pt x="51664" y="11330"/>
                    <a:pt x="79016" y="0"/>
                    <a:pt x="107537" y="0"/>
                  </a:cubicBezTo>
                  <a:close/>
                </a:path>
              </a:pathLst>
            </a:custGeom>
            <a:solidFill>
              <a:srgbClr val="166678"/>
            </a:solidFill>
            <a:ln w="9525" cap="rnd">
              <a:solidFill>
                <a:srgbClr val="FFFFFF"/>
              </a:solidFill>
              <a:prstDash val="solid"/>
              <a:round/>
            </a:ln>
          </p:spPr>
        </p:sp>
        <p:sp>
          <p:nvSpPr>
            <p:cNvPr id="12" name="TextBox 12"/>
            <p:cNvSpPr txBox="1"/>
            <p:nvPr/>
          </p:nvSpPr>
          <p:spPr>
            <a:xfrm>
              <a:off x="0" y="-38100"/>
              <a:ext cx="1029233" cy="993930"/>
            </a:xfrm>
            <a:prstGeom prst="rect">
              <a:avLst/>
            </a:prstGeom>
          </p:spPr>
          <p:txBody>
            <a:bodyPr lIns="49065" tIns="49065" rIns="49065" bIns="49065" rtlCol="0" anchor="ctr"/>
            <a:lstStyle/>
            <a:p>
              <a:pPr algn="ctr">
                <a:lnSpc>
                  <a:spcPts val="2659"/>
                </a:lnSpc>
                <a:spcBef>
                  <a:spcPct val="0"/>
                </a:spcBef>
              </a:pPr>
              <a:endParaRPr/>
            </a:p>
          </p:txBody>
        </p:sp>
      </p:grpSp>
      <p:sp>
        <p:nvSpPr>
          <p:cNvPr id="13" name="Freeform 13"/>
          <p:cNvSpPr/>
          <p:nvPr/>
        </p:nvSpPr>
        <p:spPr>
          <a:xfrm rot="5400000" flipH="1" flipV="1">
            <a:off x="-979101" y="6341871"/>
            <a:ext cx="5141794" cy="5161148"/>
          </a:xfrm>
          <a:custGeom>
            <a:avLst/>
            <a:gdLst/>
            <a:ahLst/>
            <a:cxnLst/>
            <a:rect l="l" t="t" r="r" b="b"/>
            <a:pathLst>
              <a:path w="5141794" h="5161148">
                <a:moveTo>
                  <a:pt x="5141793" y="5161148"/>
                </a:moveTo>
                <a:lnTo>
                  <a:pt x="0" y="5161148"/>
                </a:lnTo>
                <a:lnTo>
                  <a:pt x="0" y="0"/>
                </a:lnTo>
                <a:lnTo>
                  <a:pt x="5141793" y="0"/>
                </a:lnTo>
                <a:lnTo>
                  <a:pt x="5141793" y="5161148"/>
                </a:lnTo>
                <a:close/>
              </a:path>
            </a:pathLst>
          </a:custGeom>
          <a:blipFill>
            <a:blip r:embed="rId2">
              <a:alphaModFix amt="50000"/>
            </a:blip>
            <a:stretch>
              <a:fillRect/>
            </a:stretch>
          </a:blipFill>
        </p:spPr>
      </p:sp>
      <p:sp>
        <p:nvSpPr>
          <p:cNvPr id="14" name="Freeform 14"/>
          <p:cNvSpPr/>
          <p:nvPr/>
        </p:nvSpPr>
        <p:spPr>
          <a:xfrm>
            <a:off x="1637205" y="6133118"/>
            <a:ext cx="2648563" cy="1516904"/>
          </a:xfrm>
          <a:custGeom>
            <a:avLst/>
            <a:gdLst/>
            <a:ahLst/>
            <a:cxnLst/>
            <a:rect l="l" t="t" r="r" b="b"/>
            <a:pathLst>
              <a:path w="2648563" h="1516904">
                <a:moveTo>
                  <a:pt x="0" y="0"/>
                </a:moveTo>
                <a:lnTo>
                  <a:pt x="2648563" y="0"/>
                </a:lnTo>
                <a:lnTo>
                  <a:pt x="2648563" y="1516905"/>
                </a:lnTo>
                <a:lnTo>
                  <a:pt x="0" y="151690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5" name="TextBox 15"/>
          <p:cNvSpPr txBox="1"/>
          <p:nvPr/>
        </p:nvSpPr>
        <p:spPr>
          <a:xfrm>
            <a:off x="5400841" y="7219987"/>
            <a:ext cx="3051051" cy="414655"/>
          </a:xfrm>
          <a:prstGeom prst="rect">
            <a:avLst/>
          </a:prstGeom>
        </p:spPr>
        <p:txBody>
          <a:bodyPr lIns="0" tIns="0" rIns="0" bIns="0" rtlCol="0" anchor="t">
            <a:spAutoFit/>
          </a:bodyPr>
          <a:lstStyle/>
          <a:p>
            <a:pPr algn="ctr">
              <a:lnSpc>
                <a:spcPts val="3199"/>
              </a:lnSpc>
            </a:pPr>
            <a:r>
              <a:rPr lang="en-US" sz="3199">
                <a:solidFill>
                  <a:srgbClr val="C3C3C3"/>
                </a:solidFill>
                <a:latin typeface="Montserrat"/>
                <a:ea typeface="Montserrat"/>
                <a:cs typeface="Montserrat"/>
                <a:sym typeface="Montserrat"/>
              </a:rPr>
              <a:t>345</a:t>
            </a:r>
          </a:p>
        </p:txBody>
      </p:sp>
      <p:sp>
        <p:nvSpPr>
          <p:cNvPr id="16" name="TextBox 16"/>
          <p:cNvSpPr txBox="1"/>
          <p:nvPr/>
        </p:nvSpPr>
        <p:spPr>
          <a:xfrm>
            <a:off x="9345140" y="7219987"/>
            <a:ext cx="3051051" cy="414655"/>
          </a:xfrm>
          <a:prstGeom prst="rect">
            <a:avLst/>
          </a:prstGeom>
        </p:spPr>
        <p:txBody>
          <a:bodyPr lIns="0" tIns="0" rIns="0" bIns="0" rtlCol="0" anchor="t">
            <a:spAutoFit/>
          </a:bodyPr>
          <a:lstStyle/>
          <a:p>
            <a:pPr algn="ctr">
              <a:lnSpc>
                <a:spcPts val="3199"/>
              </a:lnSpc>
            </a:pPr>
            <a:r>
              <a:rPr lang="en-US" sz="3199">
                <a:solidFill>
                  <a:srgbClr val="C3C3C3"/>
                </a:solidFill>
                <a:latin typeface="Montserrat"/>
                <a:ea typeface="Montserrat"/>
                <a:cs typeface="Montserrat"/>
                <a:sym typeface="Montserrat"/>
              </a:rPr>
              <a:t>344</a:t>
            </a:r>
          </a:p>
        </p:txBody>
      </p:sp>
      <p:sp>
        <p:nvSpPr>
          <p:cNvPr id="17" name="TextBox 17"/>
          <p:cNvSpPr txBox="1"/>
          <p:nvPr/>
        </p:nvSpPr>
        <p:spPr>
          <a:xfrm>
            <a:off x="13349341" y="7219987"/>
            <a:ext cx="3051051" cy="414655"/>
          </a:xfrm>
          <a:prstGeom prst="rect">
            <a:avLst/>
          </a:prstGeom>
        </p:spPr>
        <p:txBody>
          <a:bodyPr lIns="0" tIns="0" rIns="0" bIns="0" rtlCol="0" anchor="t">
            <a:spAutoFit/>
          </a:bodyPr>
          <a:lstStyle/>
          <a:p>
            <a:pPr algn="ctr">
              <a:lnSpc>
                <a:spcPts val="3199"/>
              </a:lnSpc>
            </a:pPr>
            <a:r>
              <a:rPr lang="en-US" sz="3199">
                <a:solidFill>
                  <a:srgbClr val="C3C3C3"/>
                </a:solidFill>
                <a:latin typeface="Montserrat"/>
                <a:ea typeface="Montserrat"/>
                <a:cs typeface="Montserrat"/>
                <a:sym typeface="Montserrat"/>
              </a:rPr>
              <a:t>311</a:t>
            </a:r>
          </a:p>
        </p:txBody>
      </p:sp>
      <p:sp>
        <p:nvSpPr>
          <p:cNvPr id="18" name="Freeform 18"/>
          <p:cNvSpPr/>
          <p:nvPr/>
        </p:nvSpPr>
        <p:spPr>
          <a:xfrm rot="5400000">
            <a:off x="13109055" y="-4480173"/>
            <a:ext cx="8926745" cy="8960347"/>
          </a:xfrm>
          <a:custGeom>
            <a:avLst/>
            <a:gdLst/>
            <a:ahLst/>
            <a:cxnLst/>
            <a:rect l="l" t="t" r="r" b="b"/>
            <a:pathLst>
              <a:path w="8926745" h="8960347">
                <a:moveTo>
                  <a:pt x="0" y="0"/>
                </a:moveTo>
                <a:lnTo>
                  <a:pt x="8926745" y="0"/>
                </a:lnTo>
                <a:lnTo>
                  <a:pt x="8926745" y="8960346"/>
                </a:lnTo>
                <a:lnTo>
                  <a:pt x="0" y="8960346"/>
                </a:lnTo>
                <a:lnTo>
                  <a:pt x="0" y="0"/>
                </a:lnTo>
                <a:close/>
              </a:path>
            </a:pathLst>
          </a:custGeom>
          <a:blipFill>
            <a:blip r:embed="rId2"/>
            <a:stretch>
              <a:fillRect/>
            </a:stretch>
          </a:blipFill>
        </p:spPr>
      </p:sp>
      <p:sp>
        <p:nvSpPr>
          <p:cNvPr id="19" name="Freeform 19"/>
          <p:cNvSpPr/>
          <p:nvPr/>
        </p:nvSpPr>
        <p:spPr>
          <a:xfrm>
            <a:off x="13939868" y="2309876"/>
            <a:ext cx="1750191" cy="1779307"/>
          </a:xfrm>
          <a:custGeom>
            <a:avLst/>
            <a:gdLst/>
            <a:ahLst/>
            <a:cxnLst/>
            <a:rect l="l" t="t" r="r" b="b"/>
            <a:pathLst>
              <a:path w="1750191" h="1779307">
                <a:moveTo>
                  <a:pt x="0" y="0"/>
                </a:moveTo>
                <a:lnTo>
                  <a:pt x="1750191" y="0"/>
                </a:lnTo>
                <a:lnTo>
                  <a:pt x="1750191" y="1779307"/>
                </a:lnTo>
                <a:lnTo>
                  <a:pt x="0" y="177930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0" name="TextBox 20"/>
          <p:cNvSpPr txBox="1"/>
          <p:nvPr/>
        </p:nvSpPr>
        <p:spPr>
          <a:xfrm>
            <a:off x="5827699" y="6322974"/>
            <a:ext cx="2197335" cy="497840"/>
          </a:xfrm>
          <a:prstGeom prst="rect">
            <a:avLst/>
          </a:prstGeom>
        </p:spPr>
        <p:txBody>
          <a:bodyPr lIns="0" tIns="0" rIns="0" bIns="0" rtlCol="0" anchor="t">
            <a:spAutoFit/>
          </a:bodyPr>
          <a:lstStyle/>
          <a:p>
            <a:pPr algn="ctr">
              <a:lnSpc>
                <a:spcPts val="3099"/>
              </a:lnSpc>
            </a:pPr>
            <a:r>
              <a:rPr lang="en-US" sz="3099">
                <a:solidFill>
                  <a:srgbClr val="FFFFFF"/>
                </a:solidFill>
                <a:latin typeface="Agrandir"/>
                <a:ea typeface="Agrandir"/>
                <a:cs typeface="Agrandir"/>
                <a:sym typeface="Agrandir"/>
              </a:rPr>
              <a:t>EWALLET</a:t>
            </a:r>
          </a:p>
        </p:txBody>
      </p:sp>
      <p:sp>
        <p:nvSpPr>
          <p:cNvPr id="21" name="TextBox 21"/>
          <p:cNvSpPr txBox="1"/>
          <p:nvPr/>
        </p:nvSpPr>
        <p:spPr>
          <a:xfrm>
            <a:off x="9771998" y="6322974"/>
            <a:ext cx="2197335" cy="497840"/>
          </a:xfrm>
          <a:prstGeom prst="rect">
            <a:avLst/>
          </a:prstGeom>
        </p:spPr>
        <p:txBody>
          <a:bodyPr lIns="0" tIns="0" rIns="0" bIns="0" rtlCol="0" anchor="t">
            <a:spAutoFit/>
          </a:bodyPr>
          <a:lstStyle/>
          <a:p>
            <a:pPr algn="ctr">
              <a:lnSpc>
                <a:spcPts val="3099"/>
              </a:lnSpc>
            </a:pPr>
            <a:r>
              <a:rPr lang="en-US" sz="3099">
                <a:solidFill>
                  <a:srgbClr val="FFFFFF"/>
                </a:solidFill>
                <a:latin typeface="Agrandir"/>
                <a:ea typeface="Agrandir"/>
                <a:cs typeface="Agrandir"/>
                <a:sym typeface="Agrandir"/>
              </a:rPr>
              <a:t>CASH</a:t>
            </a:r>
          </a:p>
        </p:txBody>
      </p:sp>
      <p:sp>
        <p:nvSpPr>
          <p:cNvPr id="22" name="TextBox 22"/>
          <p:cNvSpPr txBox="1"/>
          <p:nvPr/>
        </p:nvSpPr>
        <p:spPr>
          <a:xfrm>
            <a:off x="13289438" y="6313448"/>
            <a:ext cx="3361357" cy="507365"/>
          </a:xfrm>
          <a:prstGeom prst="rect">
            <a:avLst/>
          </a:prstGeom>
        </p:spPr>
        <p:txBody>
          <a:bodyPr lIns="0" tIns="0" rIns="0" bIns="0" rtlCol="0" anchor="t">
            <a:spAutoFit/>
          </a:bodyPr>
          <a:lstStyle/>
          <a:p>
            <a:pPr algn="ctr">
              <a:lnSpc>
                <a:spcPts val="3100"/>
              </a:lnSpc>
            </a:pPr>
            <a:r>
              <a:rPr lang="en-US" sz="3100">
                <a:solidFill>
                  <a:srgbClr val="FFFFFF"/>
                </a:solidFill>
                <a:latin typeface="Agrandir"/>
                <a:ea typeface="Agrandir"/>
                <a:cs typeface="Agrandir"/>
                <a:sym typeface="Agrandir"/>
              </a:rPr>
              <a:t>CREDIT CARDS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166678">
                <a:alpha val="100000"/>
              </a:srgbClr>
            </a:gs>
            <a:gs pos="100000">
              <a:srgbClr val="212626">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rot="5400000">
            <a:off x="-2062259" y="1014392"/>
            <a:ext cx="7602431" cy="7631048"/>
          </a:xfrm>
          <a:custGeom>
            <a:avLst/>
            <a:gdLst/>
            <a:ahLst/>
            <a:cxnLst/>
            <a:rect l="l" t="t" r="r" b="b"/>
            <a:pathLst>
              <a:path w="7602431" h="7631048">
                <a:moveTo>
                  <a:pt x="0" y="0"/>
                </a:moveTo>
                <a:lnTo>
                  <a:pt x="7602432" y="0"/>
                </a:lnTo>
                <a:lnTo>
                  <a:pt x="7602432" y="7631048"/>
                </a:lnTo>
                <a:lnTo>
                  <a:pt x="0" y="7631048"/>
                </a:lnTo>
                <a:lnTo>
                  <a:pt x="0" y="0"/>
                </a:lnTo>
                <a:close/>
              </a:path>
            </a:pathLst>
          </a:custGeom>
          <a:blipFill>
            <a:blip r:embed="rId2"/>
            <a:stretch>
              <a:fillRect/>
            </a:stretch>
          </a:blipFill>
        </p:spPr>
      </p:sp>
      <p:sp>
        <p:nvSpPr>
          <p:cNvPr id="3" name="Freeform 3"/>
          <p:cNvSpPr/>
          <p:nvPr/>
        </p:nvSpPr>
        <p:spPr>
          <a:xfrm>
            <a:off x="3359050" y="5576008"/>
            <a:ext cx="2520789" cy="2562724"/>
          </a:xfrm>
          <a:custGeom>
            <a:avLst/>
            <a:gdLst/>
            <a:ahLst/>
            <a:cxnLst/>
            <a:rect l="l" t="t" r="r" b="b"/>
            <a:pathLst>
              <a:path w="2520789" h="2562724">
                <a:moveTo>
                  <a:pt x="0" y="0"/>
                </a:moveTo>
                <a:lnTo>
                  <a:pt x="2520789" y="0"/>
                </a:lnTo>
                <a:lnTo>
                  <a:pt x="2520789" y="2562724"/>
                </a:lnTo>
                <a:lnTo>
                  <a:pt x="0" y="256272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rot="5400000">
            <a:off x="16190959" y="-788621"/>
            <a:ext cx="3621013" cy="3634643"/>
          </a:xfrm>
          <a:custGeom>
            <a:avLst/>
            <a:gdLst/>
            <a:ahLst/>
            <a:cxnLst/>
            <a:rect l="l" t="t" r="r" b="b"/>
            <a:pathLst>
              <a:path w="3621013" h="3634643">
                <a:moveTo>
                  <a:pt x="0" y="0"/>
                </a:moveTo>
                <a:lnTo>
                  <a:pt x="3621013" y="0"/>
                </a:lnTo>
                <a:lnTo>
                  <a:pt x="3621013" y="3634642"/>
                </a:lnTo>
                <a:lnTo>
                  <a:pt x="0" y="3634642"/>
                </a:lnTo>
                <a:lnTo>
                  <a:pt x="0" y="0"/>
                </a:lnTo>
                <a:close/>
              </a:path>
            </a:pathLst>
          </a:custGeom>
          <a:blipFill>
            <a:blip r:embed="rId2"/>
            <a:stretch>
              <a:fillRect/>
            </a:stretch>
          </a:blipFill>
        </p:spPr>
      </p:sp>
      <p:sp>
        <p:nvSpPr>
          <p:cNvPr id="5" name="TextBox 5"/>
          <p:cNvSpPr txBox="1"/>
          <p:nvPr/>
        </p:nvSpPr>
        <p:spPr>
          <a:xfrm>
            <a:off x="697163" y="1162050"/>
            <a:ext cx="9828936" cy="1992405"/>
          </a:xfrm>
          <a:prstGeom prst="rect">
            <a:avLst/>
          </a:prstGeom>
        </p:spPr>
        <p:txBody>
          <a:bodyPr lIns="0" tIns="0" rIns="0" bIns="0" rtlCol="0" anchor="t">
            <a:spAutoFit/>
          </a:bodyPr>
          <a:lstStyle/>
          <a:p>
            <a:pPr algn="l">
              <a:lnSpc>
                <a:spcPts val="7674"/>
              </a:lnSpc>
            </a:pPr>
            <a:r>
              <a:rPr lang="en-US" sz="7674" dirty="0">
                <a:solidFill>
                  <a:srgbClr val="FFFFFF"/>
                </a:solidFill>
                <a:latin typeface="Agrandir"/>
                <a:ea typeface="Agrandir"/>
                <a:cs typeface="Agrandir"/>
                <a:sym typeface="Agrandir"/>
              </a:rPr>
              <a:t>TOP PRODUCT LINES BY SALES &amp; Rating</a:t>
            </a:r>
          </a:p>
        </p:txBody>
      </p:sp>
      <p:sp>
        <p:nvSpPr>
          <p:cNvPr id="6" name="TextBox 6"/>
          <p:cNvSpPr txBox="1"/>
          <p:nvPr/>
        </p:nvSpPr>
        <p:spPr>
          <a:xfrm>
            <a:off x="355897" y="4066290"/>
            <a:ext cx="7074475" cy="4245521"/>
          </a:xfrm>
          <a:prstGeom prst="rect">
            <a:avLst/>
          </a:prstGeom>
        </p:spPr>
        <p:txBody>
          <a:bodyPr wrap="square" lIns="0" tIns="0" rIns="0" bIns="0" rtlCol="0" anchor="t">
            <a:spAutoFit/>
          </a:bodyPr>
          <a:lstStyle/>
          <a:p>
            <a:pPr marL="639047" lvl="1" indent="-319523">
              <a:lnSpc>
                <a:spcPts val="3699"/>
              </a:lnSpc>
              <a:buFont typeface="Arial"/>
              <a:buChar char="•"/>
            </a:pPr>
            <a:r>
              <a:rPr lang="en-US" sz="2959" b="1" dirty="0">
                <a:solidFill>
                  <a:srgbClr val="FFFFFF"/>
                </a:solidFill>
                <a:latin typeface="Montserrat Bold"/>
                <a:ea typeface="Montserrat Bold"/>
                <a:cs typeface="Montserrat Bold"/>
                <a:sym typeface="Montserrat Bold"/>
              </a:rPr>
              <a:t>Food and Beverages leads with $56,145 in sales</a:t>
            </a:r>
          </a:p>
          <a:p>
            <a:pPr marL="639047" lvl="1" indent="-319523">
              <a:lnSpc>
                <a:spcPts val="3699"/>
              </a:lnSpc>
              <a:buFont typeface="Arial"/>
              <a:buChar char="•"/>
            </a:pPr>
            <a:r>
              <a:rPr lang="en-US" sz="2959" b="1" dirty="0">
                <a:solidFill>
                  <a:srgbClr val="FFFFFF"/>
                </a:solidFill>
                <a:latin typeface="Montserrat Bold"/>
                <a:ea typeface="Montserrat Bold"/>
                <a:cs typeface="Montserrat Bold"/>
                <a:sym typeface="Montserrat Bold"/>
              </a:rPr>
              <a:t>Followed closely by Sports and Travel and Electronic Accessories</a:t>
            </a:r>
          </a:p>
          <a:p>
            <a:pPr marL="639047" lvl="1" indent="-319523">
              <a:lnSpc>
                <a:spcPts val="3699"/>
              </a:lnSpc>
              <a:buFont typeface="Arial"/>
              <a:buChar char="•"/>
            </a:pPr>
            <a:r>
              <a:rPr lang="en-US" sz="2959" b="1" dirty="0">
                <a:solidFill>
                  <a:srgbClr val="FFFFFF"/>
                </a:solidFill>
                <a:latin typeface="Montserrat Bold"/>
                <a:ea typeface="Montserrat Bold"/>
                <a:cs typeface="Montserrat Bold"/>
                <a:sym typeface="Montserrat Bold"/>
              </a:rPr>
              <a:t>Highest Rating Food and Beverages: 7.11</a:t>
            </a:r>
          </a:p>
          <a:p>
            <a:pPr marL="639047" lvl="1" indent="-319523">
              <a:lnSpc>
                <a:spcPts val="3699"/>
              </a:lnSpc>
              <a:buFont typeface="Arial"/>
              <a:buChar char="•"/>
            </a:pPr>
            <a:r>
              <a:rPr lang="en-US" sz="2959" b="1" dirty="0">
                <a:solidFill>
                  <a:srgbClr val="FFFFFF"/>
                </a:solidFill>
                <a:latin typeface="Montserrat Bold"/>
                <a:ea typeface="Montserrat Bold"/>
                <a:cs typeface="Montserrat Bold"/>
                <a:sym typeface="Montserrat Bold"/>
              </a:rPr>
              <a:t>Lowest Rating Home and Lifestyle: 6.83</a:t>
            </a:r>
          </a:p>
        </p:txBody>
      </p:sp>
      <p:sp>
        <p:nvSpPr>
          <p:cNvPr id="7" name="AutoShape 7"/>
          <p:cNvSpPr/>
          <p:nvPr/>
        </p:nvSpPr>
        <p:spPr>
          <a:xfrm flipV="1">
            <a:off x="7430372" y="8616844"/>
            <a:ext cx="9828923" cy="4763"/>
          </a:xfrm>
          <a:prstGeom prst="line">
            <a:avLst/>
          </a:prstGeom>
          <a:ln w="19050" cap="flat">
            <a:solidFill>
              <a:srgbClr val="737373"/>
            </a:solidFill>
            <a:prstDash val="solid"/>
            <a:headEnd type="none" w="sm" len="sm"/>
            <a:tailEnd type="none" w="sm" len="sm"/>
          </a:ln>
        </p:spPr>
      </p:sp>
      <p:graphicFrame>
        <p:nvGraphicFramePr>
          <p:cNvPr id="8" name="Chart 7">
            <a:extLst>
              <a:ext uri="{FF2B5EF4-FFF2-40B4-BE49-F238E27FC236}">
                <a16:creationId xmlns:a16="http://schemas.microsoft.com/office/drawing/2014/main" id="{E3F2B88F-0454-FAC6-B76A-B23299D3CD10}"/>
              </a:ext>
            </a:extLst>
          </p:cNvPr>
          <p:cNvGraphicFramePr>
            <a:graphicFrameLocks/>
          </p:cNvGraphicFramePr>
          <p:nvPr>
            <p:extLst>
              <p:ext uri="{D42A27DB-BD31-4B8C-83A1-F6EECF244321}">
                <p14:modId xmlns:p14="http://schemas.microsoft.com/office/powerpoint/2010/main" val="2335469726"/>
              </p:ext>
            </p:extLst>
          </p:nvPr>
        </p:nvGraphicFramePr>
        <p:xfrm>
          <a:off x="8080699" y="3494832"/>
          <a:ext cx="9889504" cy="4457804"/>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166678">
                <a:alpha val="100000"/>
              </a:srgbClr>
            </a:gs>
            <a:gs pos="100000">
              <a:srgbClr val="212626">
                <a:alpha val="100000"/>
              </a:srgbClr>
            </a:gs>
          </a:gsLst>
          <a:path path="circle">
            <a:fillToRect l="50000" t="50000" r="50000" b="50000"/>
          </a:path>
        </a:gradFill>
        <a:effectLst/>
      </p:bgPr>
    </p:bg>
    <p:spTree>
      <p:nvGrpSpPr>
        <p:cNvPr id="1" name=""/>
        <p:cNvGrpSpPr/>
        <p:nvPr/>
      </p:nvGrpSpPr>
      <p:grpSpPr>
        <a:xfrm>
          <a:off x="0" y="0"/>
          <a:ext cx="0" cy="0"/>
          <a:chOff x="0" y="0"/>
          <a:chExt cx="0" cy="0"/>
        </a:xfrm>
      </p:grpSpPr>
      <p:grpSp>
        <p:nvGrpSpPr>
          <p:cNvPr id="2" name="Group 2"/>
          <p:cNvGrpSpPr/>
          <p:nvPr/>
        </p:nvGrpSpPr>
        <p:grpSpPr>
          <a:xfrm>
            <a:off x="1583966" y="1333305"/>
            <a:ext cx="5575470" cy="851217"/>
            <a:chOff x="0" y="0"/>
            <a:chExt cx="1468437" cy="224189"/>
          </a:xfrm>
        </p:grpSpPr>
        <p:sp>
          <p:nvSpPr>
            <p:cNvPr id="3" name="Freeform 3">
              <a:hlinkClick r:id="rId2" tooltip="https://datahierarchy.framer.website"/>
            </p:cNvPr>
            <p:cNvSpPr/>
            <p:nvPr/>
          </p:nvSpPr>
          <p:spPr>
            <a:xfrm>
              <a:off x="0" y="0"/>
              <a:ext cx="1468437" cy="224189"/>
            </a:xfrm>
            <a:custGeom>
              <a:avLst/>
              <a:gdLst/>
              <a:ahLst/>
              <a:cxnLst/>
              <a:rect l="l" t="t" r="r" b="b"/>
              <a:pathLst>
                <a:path w="1468437" h="224189">
                  <a:moveTo>
                    <a:pt x="70817" y="0"/>
                  </a:moveTo>
                  <a:lnTo>
                    <a:pt x="1397620" y="0"/>
                  </a:lnTo>
                  <a:cubicBezTo>
                    <a:pt x="1416402" y="0"/>
                    <a:pt x="1434414" y="7461"/>
                    <a:pt x="1447695" y="20742"/>
                  </a:cubicBezTo>
                  <a:cubicBezTo>
                    <a:pt x="1460976" y="34023"/>
                    <a:pt x="1468437" y="52035"/>
                    <a:pt x="1468437" y="70817"/>
                  </a:cubicBezTo>
                  <a:lnTo>
                    <a:pt x="1468437" y="153372"/>
                  </a:lnTo>
                  <a:cubicBezTo>
                    <a:pt x="1468437" y="192483"/>
                    <a:pt x="1436731" y="224189"/>
                    <a:pt x="1397620" y="224189"/>
                  </a:cubicBezTo>
                  <a:lnTo>
                    <a:pt x="70817" y="224189"/>
                  </a:lnTo>
                  <a:cubicBezTo>
                    <a:pt x="31706" y="224189"/>
                    <a:pt x="0" y="192483"/>
                    <a:pt x="0" y="153372"/>
                  </a:cubicBezTo>
                  <a:lnTo>
                    <a:pt x="0" y="70817"/>
                  </a:lnTo>
                  <a:cubicBezTo>
                    <a:pt x="0" y="31706"/>
                    <a:pt x="31706" y="0"/>
                    <a:pt x="70817" y="0"/>
                  </a:cubicBezTo>
                  <a:close/>
                </a:path>
              </a:pathLst>
            </a:custGeom>
            <a:solidFill>
              <a:srgbClr val="166678"/>
            </a:solidFill>
            <a:ln w="9525" cap="rnd">
              <a:solidFill>
                <a:srgbClr val="FFFFFF"/>
              </a:solidFill>
              <a:prstDash val="solid"/>
              <a:round/>
            </a:ln>
          </p:spPr>
        </p:sp>
        <p:sp>
          <p:nvSpPr>
            <p:cNvPr id="4" name="TextBox 4"/>
            <p:cNvSpPr txBox="1"/>
            <p:nvPr/>
          </p:nvSpPr>
          <p:spPr>
            <a:xfrm>
              <a:off x="0" y="-38100"/>
              <a:ext cx="1468437" cy="262289"/>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9679013" y="1691804"/>
            <a:ext cx="1138086" cy="271071"/>
          </a:xfrm>
          <a:custGeom>
            <a:avLst/>
            <a:gdLst/>
            <a:ahLst/>
            <a:cxnLst/>
            <a:rect l="l" t="t" r="r" b="b"/>
            <a:pathLst>
              <a:path w="1138086" h="271071">
                <a:moveTo>
                  <a:pt x="0" y="0"/>
                </a:moveTo>
                <a:lnTo>
                  <a:pt x="1138086" y="0"/>
                </a:lnTo>
                <a:lnTo>
                  <a:pt x="1138086" y="271071"/>
                </a:lnTo>
                <a:lnTo>
                  <a:pt x="0" y="27107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rot="5400000" flipV="1">
            <a:off x="-1874819" y="2943256"/>
            <a:ext cx="3192379" cy="3204395"/>
          </a:xfrm>
          <a:custGeom>
            <a:avLst/>
            <a:gdLst/>
            <a:ahLst/>
            <a:cxnLst/>
            <a:rect l="l" t="t" r="r" b="b"/>
            <a:pathLst>
              <a:path w="3192379" h="3204395">
                <a:moveTo>
                  <a:pt x="0" y="3204395"/>
                </a:moveTo>
                <a:lnTo>
                  <a:pt x="3192379" y="3204395"/>
                </a:lnTo>
                <a:lnTo>
                  <a:pt x="3192379" y="0"/>
                </a:lnTo>
                <a:lnTo>
                  <a:pt x="0" y="0"/>
                </a:lnTo>
                <a:lnTo>
                  <a:pt x="0" y="3204395"/>
                </a:lnTo>
                <a:close/>
              </a:path>
            </a:pathLst>
          </a:custGeom>
          <a:blipFill>
            <a:blip r:embed="rId5"/>
            <a:stretch>
              <a:fillRect/>
            </a:stretch>
          </a:blipFill>
        </p:spPr>
      </p:sp>
      <p:sp>
        <p:nvSpPr>
          <p:cNvPr id="7" name="Freeform 7"/>
          <p:cNvSpPr/>
          <p:nvPr/>
        </p:nvSpPr>
        <p:spPr>
          <a:xfrm rot="5400000" flipV="1">
            <a:off x="16368077" y="3978493"/>
            <a:ext cx="3192379" cy="3204395"/>
          </a:xfrm>
          <a:custGeom>
            <a:avLst/>
            <a:gdLst/>
            <a:ahLst/>
            <a:cxnLst/>
            <a:rect l="l" t="t" r="r" b="b"/>
            <a:pathLst>
              <a:path w="3192379" h="3204395">
                <a:moveTo>
                  <a:pt x="0" y="3204395"/>
                </a:moveTo>
                <a:lnTo>
                  <a:pt x="3192379" y="3204395"/>
                </a:lnTo>
                <a:lnTo>
                  <a:pt x="3192379" y="0"/>
                </a:lnTo>
                <a:lnTo>
                  <a:pt x="0" y="0"/>
                </a:lnTo>
                <a:lnTo>
                  <a:pt x="0" y="3204395"/>
                </a:lnTo>
                <a:close/>
              </a:path>
            </a:pathLst>
          </a:custGeom>
          <a:blipFill>
            <a:blip r:embed="rId5"/>
            <a:stretch>
              <a:fillRect/>
            </a:stretch>
          </a:blipFill>
        </p:spPr>
      </p:sp>
      <p:grpSp>
        <p:nvGrpSpPr>
          <p:cNvPr id="8" name="Group 8"/>
          <p:cNvGrpSpPr/>
          <p:nvPr/>
        </p:nvGrpSpPr>
        <p:grpSpPr>
          <a:xfrm>
            <a:off x="2343758" y="5666346"/>
            <a:ext cx="13600484" cy="2428998"/>
            <a:chOff x="0" y="0"/>
            <a:chExt cx="3582021" cy="639736"/>
          </a:xfrm>
        </p:grpSpPr>
        <p:sp>
          <p:nvSpPr>
            <p:cNvPr id="9" name="Freeform 9"/>
            <p:cNvSpPr/>
            <p:nvPr/>
          </p:nvSpPr>
          <p:spPr>
            <a:xfrm>
              <a:off x="0" y="0"/>
              <a:ext cx="3582021" cy="639736"/>
            </a:xfrm>
            <a:custGeom>
              <a:avLst/>
              <a:gdLst/>
              <a:ahLst/>
              <a:cxnLst/>
              <a:rect l="l" t="t" r="r" b="b"/>
              <a:pathLst>
                <a:path w="3582021" h="639736">
                  <a:moveTo>
                    <a:pt x="32447" y="0"/>
                  </a:moveTo>
                  <a:lnTo>
                    <a:pt x="3549574" y="0"/>
                  </a:lnTo>
                  <a:cubicBezTo>
                    <a:pt x="3567493" y="0"/>
                    <a:pt x="3582021" y="14527"/>
                    <a:pt x="3582021" y="32447"/>
                  </a:cubicBezTo>
                  <a:lnTo>
                    <a:pt x="3582021" y="607290"/>
                  </a:lnTo>
                  <a:cubicBezTo>
                    <a:pt x="3582021" y="625209"/>
                    <a:pt x="3567493" y="639736"/>
                    <a:pt x="3549574" y="639736"/>
                  </a:cubicBezTo>
                  <a:lnTo>
                    <a:pt x="32447" y="639736"/>
                  </a:lnTo>
                  <a:cubicBezTo>
                    <a:pt x="23841" y="639736"/>
                    <a:pt x="15588" y="636318"/>
                    <a:pt x="9503" y="630233"/>
                  </a:cubicBezTo>
                  <a:cubicBezTo>
                    <a:pt x="3418" y="624148"/>
                    <a:pt x="0" y="615895"/>
                    <a:pt x="0" y="607290"/>
                  </a:cubicBezTo>
                  <a:lnTo>
                    <a:pt x="0" y="32447"/>
                  </a:lnTo>
                  <a:cubicBezTo>
                    <a:pt x="0" y="23841"/>
                    <a:pt x="3418" y="15588"/>
                    <a:pt x="9503" y="9503"/>
                  </a:cubicBezTo>
                  <a:cubicBezTo>
                    <a:pt x="15588" y="3418"/>
                    <a:pt x="23841" y="0"/>
                    <a:pt x="32447" y="0"/>
                  </a:cubicBezTo>
                  <a:close/>
                </a:path>
              </a:pathLst>
            </a:custGeom>
            <a:gradFill rotWithShape="1">
              <a:gsLst>
                <a:gs pos="0">
                  <a:srgbClr val="166678">
                    <a:alpha val="100000"/>
                  </a:srgbClr>
                </a:gs>
                <a:gs pos="100000">
                  <a:srgbClr val="212626">
                    <a:alpha val="100000"/>
                  </a:srgbClr>
                </a:gs>
              </a:gsLst>
              <a:path path="circle">
                <a:fillToRect r="100000" b="100000"/>
              </a:path>
              <a:tileRect l="-100000" t="-100000"/>
            </a:gradFill>
          </p:spPr>
        </p:sp>
        <p:sp>
          <p:nvSpPr>
            <p:cNvPr id="10" name="TextBox 10"/>
            <p:cNvSpPr txBox="1"/>
            <p:nvPr/>
          </p:nvSpPr>
          <p:spPr>
            <a:xfrm>
              <a:off x="0" y="-38100"/>
              <a:ext cx="3582021" cy="677836"/>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15944242" y="3984501"/>
            <a:ext cx="1288627" cy="1310064"/>
          </a:xfrm>
          <a:custGeom>
            <a:avLst/>
            <a:gdLst/>
            <a:ahLst/>
            <a:cxnLst/>
            <a:rect l="l" t="t" r="r" b="b"/>
            <a:pathLst>
              <a:path w="1288627" h="1310064">
                <a:moveTo>
                  <a:pt x="0" y="0"/>
                </a:moveTo>
                <a:lnTo>
                  <a:pt x="1288627" y="0"/>
                </a:lnTo>
                <a:lnTo>
                  <a:pt x="1288627" y="1310065"/>
                </a:lnTo>
                <a:lnTo>
                  <a:pt x="0" y="131006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2" name="Freeform 12"/>
          <p:cNvSpPr/>
          <p:nvPr/>
        </p:nvSpPr>
        <p:spPr>
          <a:xfrm>
            <a:off x="634214" y="4270626"/>
            <a:ext cx="1288627" cy="1310064"/>
          </a:xfrm>
          <a:custGeom>
            <a:avLst/>
            <a:gdLst/>
            <a:ahLst/>
            <a:cxnLst/>
            <a:rect l="l" t="t" r="r" b="b"/>
            <a:pathLst>
              <a:path w="1288627" h="1310064">
                <a:moveTo>
                  <a:pt x="0" y="0"/>
                </a:moveTo>
                <a:lnTo>
                  <a:pt x="1288627" y="0"/>
                </a:lnTo>
                <a:lnTo>
                  <a:pt x="1288627" y="1310065"/>
                </a:lnTo>
                <a:lnTo>
                  <a:pt x="0" y="131006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3" name="AutoShape 13"/>
          <p:cNvSpPr/>
          <p:nvPr/>
        </p:nvSpPr>
        <p:spPr>
          <a:xfrm>
            <a:off x="2702768" y="9038319"/>
            <a:ext cx="12882465" cy="0"/>
          </a:xfrm>
          <a:prstGeom prst="line">
            <a:avLst/>
          </a:prstGeom>
          <a:ln w="19050" cap="flat">
            <a:solidFill>
              <a:srgbClr val="737373"/>
            </a:solidFill>
            <a:prstDash val="solid"/>
            <a:headEnd type="none" w="sm" len="sm"/>
            <a:tailEnd type="none" w="sm" len="sm"/>
          </a:ln>
        </p:spPr>
      </p:sp>
      <p:sp>
        <p:nvSpPr>
          <p:cNvPr id="14" name="Freeform 14"/>
          <p:cNvSpPr/>
          <p:nvPr/>
        </p:nvSpPr>
        <p:spPr>
          <a:xfrm>
            <a:off x="2165187" y="8380343"/>
            <a:ext cx="537581" cy="537581"/>
          </a:xfrm>
          <a:custGeom>
            <a:avLst/>
            <a:gdLst/>
            <a:ahLst/>
            <a:cxnLst/>
            <a:rect l="l" t="t" r="r" b="b"/>
            <a:pathLst>
              <a:path w="537581" h="537581">
                <a:moveTo>
                  <a:pt x="0" y="0"/>
                </a:moveTo>
                <a:lnTo>
                  <a:pt x="537581" y="0"/>
                </a:lnTo>
                <a:lnTo>
                  <a:pt x="537581" y="537581"/>
                </a:lnTo>
                <a:lnTo>
                  <a:pt x="0" y="537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5" name="Freeform 15"/>
          <p:cNvSpPr/>
          <p:nvPr/>
        </p:nvSpPr>
        <p:spPr>
          <a:xfrm>
            <a:off x="10429679" y="8380343"/>
            <a:ext cx="480055" cy="480055"/>
          </a:xfrm>
          <a:custGeom>
            <a:avLst/>
            <a:gdLst/>
            <a:ahLst/>
            <a:cxnLst/>
            <a:rect l="l" t="t" r="r" b="b"/>
            <a:pathLst>
              <a:path w="480055" h="480055">
                <a:moveTo>
                  <a:pt x="0" y="0"/>
                </a:moveTo>
                <a:lnTo>
                  <a:pt x="480055" y="0"/>
                </a:lnTo>
                <a:lnTo>
                  <a:pt x="480055" y="480055"/>
                </a:lnTo>
                <a:lnTo>
                  <a:pt x="0" y="480055"/>
                </a:lnTo>
                <a:lnTo>
                  <a:pt x="0" y="0"/>
                </a:lnTo>
                <a:close/>
              </a:path>
            </a:pathLst>
          </a:custGeom>
          <a:blipFill>
            <a:blip r:embed="rId10"/>
            <a:stretch>
              <a:fillRect/>
            </a:stretch>
          </a:blipFill>
        </p:spPr>
      </p:sp>
      <p:sp>
        <p:nvSpPr>
          <p:cNvPr id="16" name="TextBox 16"/>
          <p:cNvSpPr txBox="1"/>
          <p:nvPr/>
        </p:nvSpPr>
        <p:spPr>
          <a:xfrm>
            <a:off x="13336675" y="1507326"/>
            <a:ext cx="3367358" cy="455549"/>
          </a:xfrm>
          <a:prstGeom prst="rect">
            <a:avLst/>
          </a:prstGeom>
        </p:spPr>
        <p:txBody>
          <a:bodyPr lIns="0" tIns="0" rIns="0" bIns="0" rtlCol="0" anchor="t">
            <a:spAutoFit/>
          </a:bodyPr>
          <a:lstStyle/>
          <a:p>
            <a:pPr algn="r">
              <a:lnSpc>
                <a:spcPts val="3765"/>
              </a:lnSpc>
            </a:pPr>
            <a:r>
              <a:rPr lang="en-US" sz="2689">
                <a:solidFill>
                  <a:srgbClr val="BFBFBF"/>
                </a:solidFill>
                <a:latin typeface="Montserrat"/>
                <a:ea typeface="Montserrat"/>
                <a:cs typeface="Montserrat"/>
                <a:sym typeface="Montserrat"/>
              </a:rPr>
              <a:t>APRIL - 11 -2025</a:t>
            </a:r>
          </a:p>
        </p:txBody>
      </p:sp>
      <p:sp>
        <p:nvSpPr>
          <p:cNvPr id="17" name="TextBox 17"/>
          <p:cNvSpPr txBox="1"/>
          <p:nvPr/>
        </p:nvSpPr>
        <p:spPr>
          <a:xfrm>
            <a:off x="1922841" y="1507409"/>
            <a:ext cx="5024734" cy="455466"/>
          </a:xfrm>
          <a:prstGeom prst="rect">
            <a:avLst/>
          </a:prstGeom>
        </p:spPr>
        <p:txBody>
          <a:bodyPr lIns="0" tIns="0" rIns="0" bIns="0" rtlCol="0" anchor="t">
            <a:spAutoFit/>
          </a:bodyPr>
          <a:lstStyle/>
          <a:p>
            <a:pPr algn="l">
              <a:lnSpc>
                <a:spcPts val="3770"/>
              </a:lnSpc>
            </a:pPr>
            <a:r>
              <a:rPr lang="en-US" sz="2693" u="sng" dirty="0">
                <a:solidFill>
                  <a:schemeClr val="bg1"/>
                </a:solidFill>
                <a:latin typeface="Montserrat"/>
                <a:ea typeface="Montserrat"/>
                <a:cs typeface="Montserrat"/>
                <a:sym typeface="Montserrat"/>
                <a:hlinkClick r:id="rId2" tooltip="https://datahierarchy.framer.website">
                  <a:extLst>
                    <a:ext uri="{A12FA001-AC4F-418D-AE19-62706E023703}">
                      <ahyp:hlinkClr xmlns:ahyp="http://schemas.microsoft.com/office/drawing/2018/hyperlinkcolor" val="tx"/>
                    </a:ext>
                  </a:extLst>
                </a:hlinkClick>
              </a:rPr>
              <a:t>Presented</a:t>
            </a:r>
            <a:r>
              <a:rPr lang="en-US" sz="2693" dirty="0">
                <a:solidFill>
                  <a:schemeClr val="bg1"/>
                </a:solidFill>
                <a:latin typeface="Montserrat"/>
                <a:ea typeface="Montserrat"/>
                <a:cs typeface="Montserrat"/>
                <a:sym typeface="Montserrat"/>
                <a:hlinkClick r:id="rId2" tooltip="https://datahierarchy.framer.website">
                  <a:extLst>
                    <a:ext uri="{A12FA001-AC4F-418D-AE19-62706E023703}">
                      <ahyp:hlinkClr xmlns:ahyp="http://schemas.microsoft.com/office/drawing/2018/hyperlinkcolor" val="tx"/>
                    </a:ext>
                  </a:extLst>
                </a:hlinkClick>
              </a:rPr>
              <a:t> By: AMAN VERMA</a:t>
            </a:r>
          </a:p>
        </p:txBody>
      </p:sp>
      <p:sp>
        <p:nvSpPr>
          <p:cNvPr id="18" name="TextBox 18"/>
          <p:cNvSpPr txBox="1"/>
          <p:nvPr/>
        </p:nvSpPr>
        <p:spPr>
          <a:xfrm>
            <a:off x="3265866" y="3111617"/>
            <a:ext cx="11756267" cy="2194299"/>
          </a:xfrm>
          <a:prstGeom prst="rect">
            <a:avLst/>
          </a:prstGeom>
        </p:spPr>
        <p:txBody>
          <a:bodyPr lIns="0" tIns="0" rIns="0" bIns="0" rtlCol="0" anchor="t">
            <a:spAutoFit/>
          </a:bodyPr>
          <a:lstStyle/>
          <a:p>
            <a:pPr algn="ctr">
              <a:lnSpc>
                <a:spcPts val="13637"/>
              </a:lnSpc>
            </a:pPr>
            <a:r>
              <a:rPr lang="en-US" sz="13637">
                <a:solidFill>
                  <a:srgbClr val="FFFFFF"/>
                </a:solidFill>
                <a:latin typeface="Agrandir"/>
                <a:ea typeface="Agrandir"/>
                <a:cs typeface="Agrandir"/>
                <a:sym typeface="Agrandir"/>
              </a:rPr>
              <a:t>THANK YOU!</a:t>
            </a:r>
          </a:p>
        </p:txBody>
      </p:sp>
      <p:sp>
        <p:nvSpPr>
          <p:cNvPr id="19" name="TextBox 19"/>
          <p:cNvSpPr txBox="1"/>
          <p:nvPr/>
        </p:nvSpPr>
        <p:spPr>
          <a:xfrm>
            <a:off x="3265866" y="6208318"/>
            <a:ext cx="11756267" cy="1175004"/>
          </a:xfrm>
          <a:prstGeom prst="rect">
            <a:avLst/>
          </a:prstGeom>
        </p:spPr>
        <p:txBody>
          <a:bodyPr lIns="0" tIns="0" rIns="0" bIns="0" rtlCol="0" anchor="t">
            <a:spAutoFit/>
          </a:bodyPr>
          <a:lstStyle/>
          <a:p>
            <a:pPr algn="ctr">
              <a:lnSpc>
                <a:spcPts val="3108"/>
              </a:lnSpc>
            </a:pPr>
            <a:r>
              <a:rPr lang="en-US" sz="2800">
                <a:solidFill>
                  <a:srgbClr val="C3C3C3"/>
                </a:solidFill>
                <a:latin typeface="Montserrat"/>
                <a:ea typeface="Montserrat"/>
                <a:cs typeface="Montserrat"/>
                <a:sym typeface="Montserrat"/>
              </a:rPr>
              <a:t>That's it for today. Sales Analysis for My Operator  Opportunity for Data Analyst Role, hopefully you like it. If you have any questions or need further clarification, please feel free to reach out.</a:t>
            </a:r>
          </a:p>
        </p:txBody>
      </p:sp>
      <p:sp>
        <p:nvSpPr>
          <p:cNvPr id="20" name="TextBox 20"/>
          <p:cNvSpPr txBox="1"/>
          <p:nvPr/>
        </p:nvSpPr>
        <p:spPr>
          <a:xfrm>
            <a:off x="2702768" y="8466444"/>
            <a:ext cx="7191118" cy="393954"/>
          </a:xfrm>
          <a:prstGeom prst="rect">
            <a:avLst/>
          </a:prstGeom>
        </p:spPr>
        <p:txBody>
          <a:bodyPr lIns="0" tIns="0" rIns="0" bIns="0" rtlCol="0" anchor="t">
            <a:spAutoFit/>
          </a:bodyPr>
          <a:lstStyle/>
          <a:p>
            <a:pPr algn="ctr">
              <a:lnSpc>
                <a:spcPts val="3108"/>
              </a:lnSpc>
            </a:pPr>
            <a:r>
              <a:rPr lang="en-US" sz="2800" dirty="0">
                <a:solidFill>
                  <a:srgbClr val="C3C3C3"/>
                </a:solidFill>
                <a:latin typeface="Montserrat"/>
                <a:ea typeface="Montserrat"/>
                <a:cs typeface="Montserrat"/>
                <a:sym typeface="Montserrat"/>
              </a:rPr>
              <a:t>Email: Amanverma.av423@gmail.com</a:t>
            </a:r>
          </a:p>
        </p:txBody>
      </p:sp>
      <p:sp>
        <p:nvSpPr>
          <p:cNvPr id="21" name="TextBox 21"/>
          <p:cNvSpPr txBox="1"/>
          <p:nvPr/>
        </p:nvSpPr>
        <p:spPr>
          <a:xfrm>
            <a:off x="10734262" y="8466444"/>
            <a:ext cx="6498607" cy="393954"/>
          </a:xfrm>
          <a:prstGeom prst="rect">
            <a:avLst/>
          </a:prstGeom>
        </p:spPr>
        <p:txBody>
          <a:bodyPr lIns="0" tIns="0" rIns="0" bIns="0" rtlCol="0" anchor="t">
            <a:spAutoFit/>
          </a:bodyPr>
          <a:lstStyle/>
          <a:p>
            <a:pPr algn="ctr">
              <a:lnSpc>
                <a:spcPts val="3108"/>
              </a:lnSpc>
            </a:pPr>
            <a:r>
              <a:rPr lang="en-US" sz="2800" u="sng" dirty="0">
                <a:solidFill>
                  <a:schemeClr val="bg1">
                    <a:lumMod val="75000"/>
                  </a:schemeClr>
                </a:solidFill>
                <a:latin typeface="Montserrat"/>
                <a:ea typeface="Montserrat"/>
                <a:cs typeface="Montserrat"/>
                <a:sym typeface="Montserrat"/>
                <a:hlinkClick r:id="rId11" tooltip="http://linkedin.com/in/datahierarchy/details/certifications/">
                  <a:extLst>
                    <a:ext uri="{A12FA001-AC4F-418D-AE19-62706E023703}">
                      <ahyp:hlinkClr xmlns:ahyp="http://schemas.microsoft.com/office/drawing/2018/hyperlinkcolor" val="tx"/>
                    </a:ext>
                  </a:extLst>
                </a:hlinkClick>
              </a:rPr>
              <a:t>linkedin.com/in/</a:t>
            </a:r>
            <a:r>
              <a:rPr lang="en-US" sz="2800" u="sng" dirty="0" err="1">
                <a:solidFill>
                  <a:schemeClr val="bg1">
                    <a:lumMod val="75000"/>
                  </a:schemeClr>
                </a:solidFill>
                <a:latin typeface="Montserrat"/>
                <a:ea typeface="Montserrat"/>
                <a:cs typeface="Montserrat"/>
                <a:sym typeface="Montserrat"/>
                <a:hlinkClick r:id="rId11" tooltip="http://linkedin.com/in/datahierarchy/details/certifications/">
                  <a:extLst>
                    <a:ext uri="{A12FA001-AC4F-418D-AE19-62706E023703}">
                      <ahyp:hlinkClr xmlns:ahyp="http://schemas.microsoft.com/office/drawing/2018/hyperlinkcolor" val="tx"/>
                    </a:ext>
                  </a:extLst>
                </a:hlinkClick>
              </a:rPr>
              <a:t>datahierarchy</a:t>
            </a:r>
            <a:endParaRPr lang="en-US" sz="2800" u="sng" dirty="0">
              <a:solidFill>
                <a:schemeClr val="bg1">
                  <a:lumMod val="75000"/>
                </a:schemeClr>
              </a:solidFill>
              <a:latin typeface="Montserrat"/>
              <a:ea typeface="Montserrat"/>
              <a:cs typeface="Montserrat"/>
              <a:sym typeface="Montserrat"/>
              <a:hlinkClick r:id="rId11" tooltip="http://linkedin.com/in/datahierarchy/details/certifications/">
                <a:extLst>
                  <a:ext uri="{A12FA001-AC4F-418D-AE19-62706E023703}">
                    <ahyp:hlinkClr xmlns:ahyp="http://schemas.microsoft.com/office/drawing/2018/hyperlinkcolor" val="tx"/>
                  </a:ext>
                </a:extLst>
              </a:hlinkClick>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TotalTime>
  <Words>325</Words>
  <Application>Microsoft Office PowerPoint</Application>
  <PresentationFormat>Custom</PresentationFormat>
  <Paragraphs>62</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Agrandir</vt:lpstr>
      <vt:lpstr>Montserrat</vt:lpstr>
      <vt:lpstr>Montserrat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and Teal Gradient Business Meeting Presentaion</dc:title>
  <cp:lastModifiedBy>Aman verma</cp:lastModifiedBy>
  <cp:revision>6</cp:revision>
  <dcterms:created xsi:type="dcterms:W3CDTF">2006-08-16T00:00:00Z</dcterms:created>
  <dcterms:modified xsi:type="dcterms:W3CDTF">2025-04-11T18:17:32Z</dcterms:modified>
  <dc:identifier>DAGkVukhJd8</dc:identifier>
</cp:coreProperties>
</file>